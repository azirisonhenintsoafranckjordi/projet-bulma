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1"/>
  </p:sldMasterIdLst>
  <p:sldIdLst>
    <p:sldId id="256" r:id="rId2"/>
    <p:sldId id="257" r:id="rId3"/>
    <p:sldId id="258" r:id="rId4"/>
    <p:sldId id="263" r:id="rId5"/>
    <p:sldId id="269" r:id="rId6"/>
    <p:sldId id="262" r:id="rId7"/>
    <p:sldId id="264" r:id="rId8"/>
    <p:sldId id="265" r:id="rId9"/>
    <p:sldId id="267" r:id="rId10"/>
    <p:sldId id="270" r:id="rId11"/>
    <p:sldId id="268" r:id="rId12"/>
    <p:sldId id="271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23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grpSp>
        <p:nvGrpSpPr>
          <p:cNvPr id="7" name="Groupe 6">
            <a:extLst>
              <a:ext uri="{FF2B5EF4-FFF2-40B4-BE49-F238E27FC236}">
                <a16:creationId xmlns="" xmlns:a16="http://schemas.microsoft.com/office/drawing/2014/main" id="{4CA15AFD-4983-47DD-9ED0-D3B27E5A096F}"/>
              </a:ext>
            </a:extLst>
          </p:cNvPr>
          <p:cNvGrpSpPr/>
          <p:nvPr/>
        </p:nvGrpSpPr>
        <p:grpSpPr>
          <a:xfrm>
            <a:off x="-1203532" y="-3756"/>
            <a:ext cx="10347533" cy="6861756"/>
            <a:chOff x="-1604709" y="-3756"/>
            <a:chExt cx="13796710" cy="6861756"/>
          </a:xfrm>
        </p:grpSpPr>
        <p:grpSp>
          <p:nvGrpSpPr>
            <p:cNvPr id="8" name="Groupe 7">
              <a:extLst>
                <a:ext uri="{FF2B5EF4-FFF2-40B4-BE49-F238E27FC236}">
                  <a16:creationId xmlns=""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orme libre : Forme 14">
                <a:extLst>
                  <a:ext uri="{FF2B5EF4-FFF2-40B4-BE49-F238E27FC236}">
                    <a16:creationId xmlns=""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16" name="Forme libre : Forme 15">
                <a:extLst>
                  <a:ext uri="{FF2B5EF4-FFF2-40B4-BE49-F238E27FC236}">
                    <a16:creationId xmlns=""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17" name="Triangle rectangle 16">
                <a:extLst>
                  <a:ext uri="{FF2B5EF4-FFF2-40B4-BE49-F238E27FC236}">
                    <a16:creationId xmlns=""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18" name="Triangle droit 17">
                <a:extLst>
                  <a:ext uri="{FF2B5EF4-FFF2-40B4-BE49-F238E27FC236}">
                    <a16:creationId xmlns=""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19" name="Triangle droit 18">
                <a:extLst>
                  <a:ext uri="{FF2B5EF4-FFF2-40B4-BE49-F238E27FC236}">
                    <a16:creationId xmlns=""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20" name="Forme libre : Forme 19">
                <a:extLst>
                  <a:ext uri="{FF2B5EF4-FFF2-40B4-BE49-F238E27FC236}">
                    <a16:creationId xmlns=""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</p:grpSp>
        <p:sp>
          <p:nvSpPr>
            <p:cNvPr id="9" name="Forme libre : Forme 12">
              <a:extLst>
                <a:ext uri="{FF2B5EF4-FFF2-40B4-BE49-F238E27FC236}">
                  <a16:creationId xmlns=""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0" name="Forme libre : Forme 9">
              <a:extLst>
                <a:ext uri="{FF2B5EF4-FFF2-40B4-BE49-F238E27FC236}">
                  <a16:creationId xmlns=""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sz="1350" noProof="0"/>
            </a:p>
          </p:txBody>
        </p:sp>
        <p:sp>
          <p:nvSpPr>
            <p:cNvPr id="11" name="Forme libre : Forme 12">
              <a:extLst>
                <a:ext uri="{FF2B5EF4-FFF2-40B4-BE49-F238E27FC236}">
                  <a16:creationId xmlns=""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grpSp>
          <p:nvGrpSpPr>
            <p:cNvPr id="12" name="Groupe 11">
              <a:extLst>
                <a:ext uri="{FF2B5EF4-FFF2-40B4-BE49-F238E27FC236}">
                  <a16:creationId xmlns=""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orme libre : Forme 12">
                <a:extLst>
                  <a:ext uri="{FF2B5EF4-FFF2-40B4-BE49-F238E27FC236}">
                    <a16:creationId xmlns=""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  <p:sp>
            <p:nvSpPr>
              <p:cNvPr id="14" name="Forme libre : Forme 12">
                <a:extLst>
                  <a:ext uri="{FF2B5EF4-FFF2-40B4-BE49-F238E27FC236}">
                    <a16:creationId xmlns=""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fr-FR" sz="1350" noProof="0"/>
              </a:p>
            </p:txBody>
          </p:sp>
        </p:grpSp>
      </p:grp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71116" y="2395728"/>
            <a:ext cx="5308092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495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=""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1116" y="3721608"/>
            <a:ext cx="5308092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350" spc="225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 rtl="0"/>
            <a:r>
              <a:rPr lang="fr-FR" noProof="0" smtClean="0"/>
              <a:t>Modifiez le style des sous-titres du masque</a:t>
            </a:r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33937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B2838D16-809E-4EB1-8C0C-0E63D813911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01FEB333-94B4-4E53-9019-D584810903BB}"/>
              </a:ext>
            </a:extLst>
          </p:cNvPr>
          <p:cNvSpPr/>
          <p:nvPr/>
        </p:nvSpPr>
        <p:spPr>
          <a:xfrm>
            <a:off x="0" y="1"/>
            <a:ext cx="9144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9" name="Forme libre : Forme 8">
            <a:extLst>
              <a:ext uri="{FF2B5EF4-FFF2-40B4-BE49-F238E27FC236}">
                <a16:creationId xmlns="" xmlns:a16="http://schemas.microsoft.com/office/drawing/2014/main" id="{A59B9489-0CD9-4DB7-AC82-6E7867F91403}"/>
              </a:ext>
            </a:extLst>
          </p:cNvPr>
          <p:cNvSpPr/>
          <p:nvPr/>
        </p:nvSpPr>
        <p:spPr>
          <a:xfrm rot="16200000" flipV="1">
            <a:off x="1112261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Triangle droit 9">
            <a:extLst>
              <a:ext uri="{FF2B5EF4-FFF2-40B4-BE49-F238E27FC236}">
                <a16:creationId xmlns="" xmlns:a16="http://schemas.microsoft.com/office/drawing/2014/main" id="{A55D1C76-C591-4FA5-9780-87AB6B37C0FA}"/>
              </a:ext>
            </a:extLst>
          </p:cNvPr>
          <p:cNvSpPr/>
          <p:nvPr/>
        </p:nvSpPr>
        <p:spPr>
          <a:xfrm rot="5400000" flipV="1">
            <a:off x="3597488" y="782783"/>
            <a:ext cx="6326154" cy="476059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1" name="Forme libre : Forme 10">
            <a:extLst>
              <a:ext uri="{FF2B5EF4-FFF2-40B4-BE49-F238E27FC236}">
                <a16:creationId xmlns="" xmlns:a16="http://schemas.microsoft.com/office/drawing/2014/main" id="{A7DC1D12-670F-4235-8791-FA8C2B330871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859569CF-FDAC-47C4-A0F5-296F7117C398}"/>
              </a:ext>
            </a:extLst>
          </p:cNvPr>
          <p:cNvSpPr/>
          <p:nvPr/>
        </p:nvSpPr>
        <p:spPr>
          <a:xfrm rot="2700000">
            <a:off x="6700970" y="2066798"/>
            <a:ext cx="4406148" cy="397442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3" name="Forme libre : Forme 12">
            <a:extLst>
              <a:ext uri="{FF2B5EF4-FFF2-40B4-BE49-F238E27FC236}">
                <a16:creationId xmlns="" xmlns:a16="http://schemas.microsoft.com/office/drawing/2014/main" id="{D68D0C72-2B2C-4C85-A091-157853C71784}"/>
              </a:ext>
            </a:extLst>
          </p:cNvPr>
          <p:cNvSpPr/>
          <p:nvPr/>
        </p:nvSpPr>
        <p:spPr>
          <a:xfrm rot="8100000" flipH="1">
            <a:off x="7187681" y="1088097"/>
            <a:ext cx="3804135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4" name="Forme libre : Forme 13">
            <a:extLst>
              <a:ext uri="{FF2B5EF4-FFF2-40B4-BE49-F238E27FC236}">
                <a16:creationId xmlns="" xmlns:a16="http://schemas.microsoft.com/office/drawing/2014/main" id="{8E25334A-5FE3-4DDA-8D32-4796CCFCAA74}"/>
              </a:ext>
            </a:extLst>
          </p:cNvPr>
          <p:cNvSpPr/>
          <p:nvPr/>
        </p:nvSpPr>
        <p:spPr>
          <a:xfrm rot="2700000">
            <a:off x="8469217" y="5885197"/>
            <a:ext cx="877778" cy="1316667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="" xmlns:a16="http://schemas.microsoft.com/office/drawing/2014/main" id="{18818DF1-D7FD-4C0F-875D-7A07E8F75C06}"/>
              </a:ext>
            </a:extLst>
          </p:cNvPr>
          <p:cNvSpPr/>
          <p:nvPr/>
        </p:nvSpPr>
        <p:spPr>
          <a:xfrm rot="8100000" flipH="1">
            <a:off x="7936699" y="5841410"/>
            <a:ext cx="1779261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grpSp>
        <p:nvGrpSpPr>
          <p:cNvPr id="16" name="Groupe 15">
            <a:extLst>
              <a:ext uri="{FF2B5EF4-FFF2-40B4-BE49-F238E27FC236}">
                <a16:creationId xmlns="" xmlns:a16="http://schemas.microsoft.com/office/drawing/2014/main" id="{8F9BB384-9E14-4CEA-82C1-21837229D3EF}"/>
              </a:ext>
            </a:extLst>
          </p:cNvPr>
          <p:cNvGrpSpPr/>
          <p:nvPr/>
        </p:nvGrpSpPr>
        <p:grpSpPr>
          <a:xfrm rot="16200000">
            <a:off x="132239" y="-689051"/>
            <a:ext cx="1532001" cy="1369847"/>
            <a:chOff x="10800164" y="7142066"/>
            <a:chExt cx="2775293" cy="3308724"/>
          </a:xfrm>
        </p:grpSpPr>
        <p:sp>
          <p:nvSpPr>
            <p:cNvPr id="17" name="Forme libre : Forme 16">
              <a:extLst>
                <a:ext uri="{FF2B5EF4-FFF2-40B4-BE49-F238E27FC236}">
                  <a16:creationId xmlns=""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8" name="Forme libre : Forme 17">
              <a:extLst>
                <a:ext uri="{FF2B5EF4-FFF2-40B4-BE49-F238E27FC236}">
                  <a16:creationId xmlns=""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="" xmlns:a16="http://schemas.microsoft.com/office/drawing/2014/main" id="{2772239B-C46D-4458-BB4B-DDB12FAB0172}"/>
              </a:ext>
            </a:extLst>
          </p:cNvPr>
          <p:cNvGrpSpPr/>
          <p:nvPr/>
        </p:nvGrpSpPr>
        <p:grpSpPr>
          <a:xfrm rot="16200000">
            <a:off x="1392345" y="-373940"/>
            <a:ext cx="818398" cy="739622"/>
            <a:chOff x="10945855" y="7317026"/>
            <a:chExt cx="2483924" cy="2993104"/>
          </a:xfrm>
        </p:grpSpPr>
        <p:sp>
          <p:nvSpPr>
            <p:cNvPr id="20" name="Forme libre : Forme 19">
              <a:extLst>
                <a:ext uri="{FF2B5EF4-FFF2-40B4-BE49-F238E27FC236}">
                  <a16:creationId xmlns=""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=""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8" y="4754880"/>
            <a:ext cx="5102352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spc="225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numéro de diapositive 4">
            <a:extLst>
              <a:ext uri="{FF2B5EF4-FFF2-40B4-BE49-F238E27FC236}">
                <a16:creationId xmlns=""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3" name="Titre 1">
            <a:extLst>
              <a:ext uri="{FF2B5EF4-FFF2-40B4-BE49-F238E27FC236}">
                <a16:creationId xmlns=""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3886201"/>
            <a:ext cx="5836158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</p:spTree>
    <p:extLst>
      <p:ext uri="{BB962C8B-B14F-4D97-AF65-F5344CB8AC3E}">
        <p14:creationId xmlns:p14="http://schemas.microsoft.com/office/powerpoint/2010/main" val="205094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/>
        </p:nvSpPr>
        <p:spPr>
          <a:xfrm rot="16200000" flipV="1">
            <a:off x="1283979" y="-997278"/>
            <a:ext cx="6862743" cy="8857300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/>
        </p:nvSpPr>
        <p:spPr>
          <a:xfrm rot="16200000" flipV="1">
            <a:off x="1112262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grpSp>
        <p:nvGrpSpPr>
          <p:cNvPr id="26" name="Groupe 25">
            <a:extLst>
              <a:ext uri="{FF2B5EF4-FFF2-40B4-BE49-F238E27FC236}">
                <a16:creationId xmlns="" xmlns:a16="http://schemas.microsoft.com/office/drawing/2014/main" id="{E9318B2B-E019-4078-9EF0-C9D6281AE31B}"/>
              </a:ext>
            </a:extLst>
          </p:cNvPr>
          <p:cNvGrpSpPr/>
          <p:nvPr/>
        </p:nvGrpSpPr>
        <p:grpSpPr>
          <a:xfrm>
            <a:off x="7332057" y="2057401"/>
            <a:ext cx="3310169" cy="3934444"/>
            <a:chOff x="9222437" y="1088097"/>
            <a:chExt cx="5433318" cy="4843502"/>
          </a:xfrm>
        </p:grpSpPr>
        <p:sp>
          <p:nvSpPr>
            <p:cNvPr id="27" name="Forme libre : Forme 26">
              <a:extLst>
                <a:ext uri="{FF2B5EF4-FFF2-40B4-BE49-F238E27FC236}">
                  <a16:creationId xmlns=""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sz="1350" noProof="0"/>
            </a:p>
          </p:txBody>
        </p:sp>
        <p:sp>
          <p:nvSpPr>
            <p:cNvPr id="28" name="Forme libre : Forme 27">
              <a:extLst>
                <a:ext uri="{FF2B5EF4-FFF2-40B4-BE49-F238E27FC236}">
                  <a16:creationId xmlns=""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9" name="Forme libre : Forme 28">
            <a:extLst>
              <a:ext uri="{FF2B5EF4-FFF2-40B4-BE49-F238E27FC236}">
                <a16:creationId xmlns="" xmlns:a16="http://schemas.microsoft.com/office/drawing/2014/main" id="{EE8F5B31-1523-46AE-9455-C33DFC1BDDE0}"/>
              </a:ext>
            </a:extLst>
          </p:cNvPr>
          <p:cNvSpPr/>
          <p:nvPr/>
        </p:nvSpPr>
        <p:spPr>
          <a:xfrm rot="2700000">
            <a:off x="8469217" y="5885197"/>
            <a:ext cx="877778" cy="1316667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="" xmlns:a16="http://schemas.microsoft.com/office/drawing/2014/main" id="{5D17048F-C2E1-4775-BC32-50BD6219F89D}"/>
              </a:ext>
            </a:extLst>
          </p:cNvPr>
          <p:cNvSpPr/>
          <p:nvPr/>
        </p:nvSpPr>
        <p:spPr>
          <a:xfrm rot="8100000" flipH="1">
            <a:off x="7936699" y="5841410"/>
            <a:ext cx="1779261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grpSp>
        <p:nvGrpSpPr>
          <p:cNvPr id="31" name="Groupe 30">
            <a:extLst>
              <a:ext uri="{FF2B5EF4-FFF2-40B4-BE49-F238E27FC236}">
                <a16:creationId xmlns="" xmlns:a16="http://schemas.microsoft.com/office/drawing/2014/main" id="{EAB002AA-4848-49C8-A834-036F860C79A3}"/>
              </a:ext>
            </a:extLst>
          </p:cNvPr>
          <p:cNvGrpSpPr/>
          <p:nvPr/>
        </p:nvGrpSpPr>
        <p:grpSpPr>
          <a:xfrm rot="16200000" flipH="1">
            <a:off x="7303720" y="6409175"/>
            <a:ext cx="1052473" cy="907084"/>
            <a:chOff x="10800165" y="7142066"/>
            <a:chExt cx="2775293" cy="3189215"/>
          </a:xfrm>
        </p:grpSpPr>
        <p:sp>
          <p:nvSpPr>
            <p:cNvPr id="32" name="Forme libre : Forme 31">
              <a:extLst>
                <a:ext uri="{FF2B5EF4-FFF2-40B4-BE49-F238E27FC236}">
                  <a16:creationId xmlns=""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3" name="Forme libre : Forme 32">
              <a:extLst>
                <a:ext uri="{FF2B5EF4-FFF2-40B4-BE49-F238E27FC236}">
                  <a16:creationId xmlns=""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078" y="3886201"/>
            <a:ext cx="5836158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Titre de section 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3888" y="4754880"/>
            <a:ext cx="5102352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spc="225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171450" lvl="0" indent="-171450" rtl="0"/>
            <a:r>
              <a:rPr lang="fr-FR" noProof="0"/>
              <a:t>Modifiez les styles du texte du masque</a:t>
            </a:r>
          </a:p>
        </p:txBody>
      </p:sp>
      <p:sp>
        <p:nvSpPr>
          <p:cNvPr id="35" name="Espace réservé du numéro de diapositive 4">
            <a:extLst>
              <a:ext uri="{FF2B5EF4-FFF2-40B4-BE49-F238E27FC236}">
                <a16:creationId xmlns=""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0451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2CDBB6E5-B91E-4946-9390-E8693855103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34" name="Forme libre : Forme 33">
            <a:extLst>
              <a:ext uri="{FF2B5EF4-FFF2-40B4-BE49-F238E27FC236}">
                <a16:creationId xmlns="" xmlns:a16="http://schemas.microsoft.com/office/drawing/2014/main" id="{0C3CC1C9-1FA0-4FE4-8984-4A8B3728D674}"/>
              </a:ext>
            </a:extLst>
          </p:cNvPr>
          <p:cNvSpPr/>
          <p:nvPr/>
        </p:nvSpPr>
        <p:spPr>
          <a:xfrm rot="16200000" flipV="1">
            <a:off x="1283979" y="-997278"/>
            <a:ext cx="6862743" cy="8857300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8E049265-431E-48DE-B7F7-4959930171DC}"/>
              </a:ext>
            </a:extLst>
          </p:cNvPr>
          <p:cNvSpPr/>
          <p:nvPr/>
        </p:nvSpPr>
        <p:spPr>
          <a:xfrm rot="16200000" flipV="1">
            <a:off x="1112262" y="-1112261"/>
            <a:ext cx="6862743" cy="9087265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5" name="Forme libre : Forme 24">
            <a:extLst>
              <a:ext uri="{FF2B5EF4-FFF2-40B4-BE49-F238E27FC236}">
                <a16:creationId xmlns="" xmlns:a16="http://schemas.microsoft.com/office/drawing/2014/main" id="{173E5F2D-1F8E-4DCC-857F-932C6C6539BB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4" name="Ovale 3">
            <a:extLst>
              <a:ext uri="{FF2B5EF4-FFF2-40B4-BE49-F238E27FC236}">
                <a16:creationId xmlns="" xmlns:a16="http://schemas.microsoft.com/office/drawing/2014/main" id="{ECB4C115-EFF9-405C-98BE-F4077B9730D0}"/>
              </a:ext>
            </a:extLst>
          </p:cNvPr>
          <p:cNvSpPr/>
          <p:nvPr/>
        </p:nvSpPr>
        <p:spPr>
          <a:xfrm>
            <a:off x="400049" y="914400"/>
            <a:ext cx="1458686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8" name="Titre 1">
            <a:extLst>
              <a:ext uri="{FF2B5EF4-FFF2-40B4-BE49-F238E27FC236}">
                <a16:creationId xmlns="" xmlns:a16="http://schemas.microsoft.com/office/drawing/2014/main" id="{C9A300DD-BB54-44ED-A7E4-01CD41EC930F}"/>
              </a:ext>
            </a:extLst>
          </p:cNvPr>
          <p:cNvSpPr txBox="1">
            <a:spLocks/>
          </p:cNvSpPr>
          <p:nvPr/>
        </p:nvSpPr>
        <p:spPr>
          <a:xfrm>
            <a:off x="717745" y="923306"/>
            <a:ext cx="753836" cy="2859313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fr-FR" sz="138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0050" y="3200401"/>
            <a:ext cx="5663293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24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/>
              <a:t>Guillemet</a:t>
            </a:r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=""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696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one+Tit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 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3" name="Espace réservé du texte 22">
            <a:extLst>
              <a:ext uri="{FF2B5EF4-FFF2-40B4-BE49-F238E27FC236}">
                <a16:creationId xmlns=""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3375" y="1625386"/>
            <a:ext cx="5038725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9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78018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uniquem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9201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=""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2524" y="1825625"/>
            <a:ext cx="8411426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67910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5" name="Espace réservé du texte 2">
            <a:extLst>
              <a:ext uri="{FF2B5EF4-FFF2-40B4-BE49-F238E27FC236}">
                <a16:creationId xmlns=""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33376" y="1681163"/>
            <a:ext cx="3868340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u texte 4">
            <a:extLst>
              <a:ext uri="{FF2B5EF4-FFF2-40B4-BE49-F238E27FC236}">
                <a16:creationId xmlns=""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875609" y="1681163"/>
            <a:ext cx="3868341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contenu 3">
            <a:extLst>
              <a:ext uri="{FF2B5EF4-FFF2-40B4-BE49-F238E27FC236}">
                <a16:creationId xmlns=""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3376" y="2505075"/>
            <a:ext cx="3868340" cy="3684588"/>
          </a:xfrm>
        </p:spPr>
        <p:txBody>
          <a:bodyPr rtlCol="0">
            <a:normAutofit/>
          </a:bodyPr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8" name="Espace réservé du contenu 5">
            <a:extLst>
              <a:ext uri="{FF2B5EF4-FFF2-40B4-BE49-F238E27FC236}">
                <a16:creationId xmlns=""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856559" y="2505075"/>
            <a:ext cx="3887391" cy="3684588"/>
          </a:xfrm>
        </p:spPr>
        <p:txBody>
          <a:bodyPr rtlCol="0">
            <a:normAutofit/>
          </a:bodyPr>
          <a:lstStyle>
            <a:lvl1pPr>
              <a:defRPr sz="135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900">
                <a:solidFill>
                  <a:schemeClr val="bg1"/>
                </a:solidFill>
              </a:defRPr>
            </a:lvl4pPr>
            <a:lvl5pPr>
              <a:defRPr sz="9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174612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ux contenu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4" name="Forme libre : Forme 23">
            <a:extLst>
              <a:ext uri="{FF2B5EF4-FFF2-40B4-BE49-F238E27FC236}">
                <a16:creationId xmlns="" xmlns:a16="http://schemas.microsoft.com/office/drawing/2014/main" id="{18103E00-7E4A-44CD-81AC-06433CAE1110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u contenu 2">
            <a:extLst>
              <a:ext uri="{FF2B5EF4-FFF2-40B4-BE49-F238E27FC236}">
                <a16:creationId xmlns=""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332524" y="1517715"/>
            <a:ext cx="3888328" cy="4659248"/>
          </a:xfrm>
        </p:spPr>
        <p:txBody>
          <a:bodyPr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500">
                <a:solidFill>
                  <a:schemeClr val="bg1"/>
                </a:solidFill>
              </a:defRPr>
            </a:lvl1pPr>
            <a:lvl2pPr marL="600075" indent="-257175">
              <a:buFont typeface="Arial" panose="020B0604020202020204" pitchFamily="34" charset="0"/>
              <a:buChar char="•"/>
              <a:defRPr sz="1350">
                <a:solidFill>
                  <a:schemeClr val="bg1"/>
                </a:solidFill>
              </a:defRPr>
            </a:lvl2pPr>
            <a:lvl3pPr marL="942975" indent="-257175"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3pPr>
            <a:lvl4pPr marL="1243013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4pPr>
            <a:lvl5pPr marL="1585913" indent="-214313"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21" name="Espace réservé du contenu 3">
            <a:extLst>
              <a:ext uri="{FF2B5EF4-FFF2-40B4-BE49-F238E27FC236}">
                <a16:creationId xmlns=""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55623" y="1517715"/>
            <a:ext cx="3888328" cy="4659248"/>
          </a:xfrm>
        </p:spPr>
        <p:txBody>
          <a:bodyPr rtlCol="0"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812096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tégorie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0" name="Espace réservé d’image 8">
            <a:extLst>
              <a:ext uri="{FF2B5EF4-FFF2-40B4-BE49-F238E27FC236}">
                <a16:creationId xmlns=""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3659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1" name="Espace réservé d’image 8">
            <a:extLst>
              <a:ext uri="{FF2B5EF4-FFF2-40B4-BE49-F238E27FC236}">
                <a16:creationId xmlns=""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16673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2" name="Espace réservé d’image 8">
            <a:extLst>
              <a:ext uri="{FF2B5EF4-FFF2-40B4-BE49-F238E27FC236}">
                <a16:creationId xmlns=""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99686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3" name="Espace réservé d’image 8">
            <a:extLst>
              <a:ext uri="{FF2B5EF4-FFF2-40B4-BE49-F238E27FC236}">
                <a16:creationId xmlns=""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82700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4" name="Espace réservé d’image 8">
            <a:extLst>
              <a:ext uri="{FF2B5EF4-FFF2-40B4-BE49-F238E27FC236}">
                <a16:creationId xmlns=""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65713" y="2096717"/>
            <a:ext cx="944629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6" name="Espace réservé du texte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21" y="4240093"/>
            <a:ext cx="1332105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7" name="Espace réservé du texte 22">
            <a:extLst>
              <a:ext uri="{FF2B5EF4-FFF2-40B4-BE49-F238E27FC236}">
                <a16:creationId xmlns=""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22934" y="4240093"/>
            <a:ext cx="1332105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8" name="Espace réservé du texte 22">
            <a:extLst>
              <a:ext uri="{FF2B5EF4-FFF2-40B4-BE49-F238E27FC236}">
                <a16:creationId xmlns=""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05948" y="4240093"/>
            <a:ext cx="1332105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9" name="Espace réservé du texte 22">
            <a:extLst>
              <a:ext uri="{FF2B5EF4-FFF2-40B4-BE49-F238E27FC236}">
                <a16:creationId xmlns=""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88961" y="4240093"/>
            <a:ext cx="1332105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0" name="Espace réservé du texte 22">
            <a:extLst>
              <a:ext uri="{FF2B5EF4-FFF2-40B4-BE49-F238E27FC236}">
                <a16:creationId xmlns=""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71974" y="4240093"/>
            <a:ext cx="1332105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="" xmlns:a16="http://schemas.microsoft.com/office/drawing/2014/main" id="{2B4CB326-DA0E-488E-B236-7017E8438FBB}"/>
              </a:ext>
            </a:extLst>
          </p:cNvPr>
          <p:cNvCxnSpPr/>
          <p:nvPr/>
        </p:nvCxnSpPr>
        <p:spPr>
          <a:xfrm>
            <a:off x="931766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droit 30">
            <a:extLst>
              <a:ext uri="{FF2B5EF4-FFF2-40B4-BE49-F238E27FC236}">
                <a16:creationId xmlns="" xmlns:a16="http://schemas.microsoft.com/office/drawing/2014/main" id="{9366B533-7212-4A36-9CE2-D6302E721F8F}"/>
              </a:ext>
            </a:extLst>
          </p:cNvPr>
          <p:cNvCxnSpPr/>
          <p:nvPr/>
        </p:nvCxnSpPr>
        <p:spPr>
          <a:xfrm>
            <a:off x="2614779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="" xmlns:a16="http://schemas.microsoft.com/office/drawing/2014/main" id="{AD7474CD-E230-4E14-8274-5E20F673F401}"/>
              </a:ext>
            </a:extLst>
          </p:cNvPr>
          <p:cNvCxnSpPr/>
          <p:nvPr/>
        </p:nvCxnSpPr>
        <p:spPr>
          <a:xfrm>
            <a:off x="4297793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="" xmlns:a16="http://schemas.microsoft.com/office/drawing/2014/main" id="{6BF71FCE-6F39-4D2F-82BE-7D9F1D2ED59F}"/>
              </a:ext>
            </a:extLst>
          </p:cNvPr>
          <p:cNvCxnSpPr/>
          <p:nvPr/>
        </p:nvCxnSpPr>
        <p:spPr>
          <a:xfrm>
            <a:off x="5980806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33">
            <a:extLst>
              <a:ext uri="{FF2B5EF4-FFF2-40B4-BE49-F238E27FC236}">
                <a16:creationId xmlns="" xmlns:a16="http://schemas.microsoft.com/office/drawing/2014/main" id="{AE97AC7A-17D9-4F42-9DD0-94FE4FC6BF19}"/>
              </a:ext>
            </a:extLst>
          </p:cNvPr>
          <p:cNvCxnSpPr/>
          <p:nvPr/>
        </p:nvCxnSpPr>
        <p:spPr>
          <a:xfrm>
            <a:off x="7663819" y="3825022"/>
            <a:ext cx="548416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125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Section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70" y="4240093"/>
            <a:ext cx="2469980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Espace réservé d’image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6"/>
            <a:ext cx="9144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  <p:sp>
        <p:nvSpPr>
          <p:cNvPr id="36" name="Espace réservé du texte 22">
            <a:extLst>
              <a:ext uri="{FF2B5EF4-FFF2-40B4-BE49-F238E27FC236}">
                <a16:creationId xmlns=""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33127" y="4240093"/>
            <a:ext cx="2469980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7" name="Espace réservé du texte 22">
            <a:extLst>
              <a:ext uri="{FF2B5EF4-FFF2-40B4-BE49-F238E27FC236}">
                <a16:creationId xmlns=""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9683" y="4240093"/>
            <a:ext cx="2469980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86974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+ tex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6" name="Espace réservé du texte 22">
            <a:extLst>
              <a:ext uri="{FF2B5EF4-FFF2-40B4-BE49-F238E27FC236}">
                <a16:creationId xmlns=""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70" y="4240093"/>
            <a:ext cx="7051505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None/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450"/>
              </a:spcBef>
              <a:spcAft>
                <a:spcPts val="300"/>
              </a:spcAft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05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13" name="Espace réservé d’image 12">
            <a:extLst>
              <a:ext uri="{FF2B5EF4-FFF2-40B4-BE49-F238E27FC236}">
                <a16:creationId xmlns=""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6"/>
            <a:ext cx="9144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05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fr-FR" noProof="0"/>
              <a:t>Insérer une image</a:t>
            </a:r>
          </a:p>
        </p:txBody>
      </p:sp>
    </p:spTree>
    <p:extLst>
      <p:ext uri="{BB962C8B-B14F-4D97-AF65-F5344CB8AC3E}">
        <p14:creationId xmlns:p14="http://schemas.microsoft.com/office/powerpoint/2010/main" val="320312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0" name="Espace réservé d’image 2">
            <a:extLst>
              <a:ext uri="{FF2B5EF4-FFF2-40B4-BE49-F238E27FC236}">
                <a16:creationId xmlns=""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82566" y="1444650"/>
            <a:ext cx="5661385" cy="4579079"/>
          </a:xfrm>
        </p:spPr>
        <p:txBody>
          <a:bodyPr rtlCol="0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rtl="0"/>
            <a:r>
              <a:rPr lang="fr-FR" noProof="0" smtClean="0"/>
              <a:t>Cliquez sur l'icône pour ajouter une image</a:t>
            </a:r>
            <a:endParaRPr lang="fr-FR" noProof="0"/>
          </a:p>
        </p:txBody>
      </p:sp>
      <p:sp>
        <p:nvSpPr>
          <p:cNvPr id="21" name="Espace réservé du texte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2525" y="1444650"/>
            <a:ext cx="2523797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30706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 avec légen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="" xmlns:a16="http://schemas.microsoft.com/office/drawing/2014/main" id="{EB3E033F-4449-40FA-BC85-BD2712D313DD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9">
            <a:extLst>
              <a:ext uri="{FF2B5EF4-FFF2-40B4-BE49-F238E27FC236}">
                <a16:creationId xmlns="" xmlns:a16="http://schemas.microsoft.com/office/drawing/2014/main" id="{63D26743-0505-444C-80B3-E88EE87DF72B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8" name="Forme libre : Forme 17">
            <a:extLst>
              <a:ext uri="{FF2B5EF4-FFF2-40B4-BE49-F238E27FC236}">
                <a16:creationId xmlns="" xmlns:a16="http://schemas.microsoft.com/office/drawing/2014/main" id="{E37145E9-AC61-47D5-9288-8789940F81B6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12" name="Forme libre : Forme 11">
            <a:extLst>
              <a:ext uri="{FF2B5EF4-FFF2-40B4-BE49-F238E27FC236}">
                <a16:creationId xmlns="" xmlns:a16="http://schemas.microsoft.com/office/drawing/2014/main" id="{A5E2B3ED-9A49-40A7-B8A3-62595FE513F9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7">
            <a:extLst>
              <a:ext uri="{FF2B5EF4-FFF2-40B4-BE49-F238E27FC236}">
                <a16:creationId xmlns="" xmlns:a16="http://schemas.microsoft.com/office/drawing/2014/main" id="{1599AF7E-3E34-4597-AA72-9373A7FDB020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375" y="542926"/>
            <a:ext cx="8410575" cy="424732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2400" b="1" spc="-53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fr-FR" noProof="0" smtClean="0"/>
              <a:t>Modifiez le style du titre</a:t>
            </a:r>
            <a:endParaRPr lang="fr-FR" noProof="0"/>
          </a:p>
        </p:txBody>
      </p: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7732E1E7-45E3-4264-8F26-66758696DD1E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6" name="Forme libre : Forme 15">
              <a:extLst>
                <a:ext uri="{FF2B5EF4-FFF2-40B4-BE49-F238E27FC236}">
                  <a16:creationId xmlns=""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7" name="Forme libre : Forme 16">
              <a:extLst>
                <a:ext uri="{FF2B5EF4-FFF2-40B4-BE49-F238E27FC236}">
                  <a16:creationId xmlns=""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D9EBF8BB-A805-4DDB-B459-082F99815B95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9" name="Rectangle : Coin rogné 18">
              <a:extLst>
                <a:ext uri="{FF2B5EF4-FFF2-40B4-BE49-F238E27FC236}">
                  <a16:creationId xmlns=""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3" name="Rectangle : Coin rogné 2">
              <a:extLst>
                <a:ext uri="{FF2B5EF4-FFF2-40B4-BE49-F238E27FC236}">
                  <a16:creationId xmlns=""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62EEBF51-DCAD-4335-85E9-52801031A1BF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=""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21" name="Espace réservé du texte 3">
            <a:extLst>
              <a:ext uri="{FF2B5EF4-FFF2-40B4-BE49-F238E27FC236}">
                <a16:creationId xmlns=""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32525" y="1444650"/>
            <a:ext cx="2523797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contenu 2">
            <a:extLst>
              <a:ext uri="{FF2B5EF4-FFF2-40B4-BE49-F238E27FC236}">
                <a16:creationId xmlns=""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973217" y="1444650"/>
            <a:ext cx="5770733" cy="4579079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9029859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4494CD2-CCDD-0248-96F8-741002C44255}"/>
              </a:ext>
            </a:extLst>
          </p:cNvPr>
          <p:cNvSpPr/>
          <p:nvPr/>
        </p:nvSpPr>
        <p:spPr>
          <a:xfrm>
            <a:off x="0" y="1"/>
            <a:ext cx="9144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9" name="Forme libre : Forme 9">
            <a:extLst>
              <a:ext uri="{FF2B5EF4-FFF2-40B4-BE49-F238E27FC236}">
                <a16:creationId xmlns="" xmlns:a16="http://schemas.microsoft.com/office/drawing/2014/main" id="{07077B00-C1EE-7241-B441-7814F92A7EDF}"/>
              </a:ext>
            </a:extLst>
          </p:cNvPr>
          <p:cNvSpPr/>
          <p:nvPr/>
        </p:nvSpPr>
        <p:spPr>
          <a:xfrm>
            <a:off x="0" y="1"/>
            <a:ext cx="9144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20" name="Forme libre : Forme 17">
            <a:extLst>
              <a:ext uri="{FF2B5EF4-FFF2-40B4-BE49-F238E27FC236}">
                <a16:creationId xmlns="" xmlns:a16="http://schemas.microsoft.com/office/drawing/2014/main" id="{3A1AEBC4-637E-F64C-9192-69AC4BB26D0C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21" name="Forme libre : Forme 11">
            <a:extLst>
              <a:ext uri="{FF2B5EF4-FFF2-40B4-BE49-F238E27FC236}">
                <a16:creationId xmlns="" xmlns:a16="http://schemas.microsoft.com/office/drawing/2014/main" id="{669A7039-C54C-8E46-9A8B-DDB2547D989C}"/>
              </a:ext>
            </a:extLst>
          </p:cNvPr>
          <p:cNvSpPr/>
          <p:nvPr/>
        </p:nvSpPr>
        <p:spPr>
          <a:xfrm rot="16200000" flipV="1">
            <a:off x="1140629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2" name="Forme libre : Forme 7">
            <a:extLst>
              <a:ext uri="{FF2B5EF4-FFF2-40B4-BE49-F238E27FC236}">
                <a16:creationId xmlns="" xmlns:a16="http://schemas.microsoft.com/office/drawing/2014/main" id="{4F173B32-87BB-9A40-8C91-4C1EED2B7ABF}"/>
              </a:ext>
            </a:extLst>
          </p:cNvPr>
          <p:cNvSpPr/>
          <p:nvPr/>
        </p:nvSpPr>
        <p:spPr>
          <a:xfrm rot="16200000" flipV="1">
            <a:off x="1140628" y="-1140627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grpSp>
        <p:nvGrpSpPr>
          <p:cNvPr id="24" name="Groupe 23">
            <a:extLst>
              <a:ext uri="{FF2B5EF4-FFF2-40B4-BE49-F238E27FC236}">
                <a16:creationId xmlns="" xmlns:a16="http://schemas.microsoft.com/office/drawing/2014/main" id="{4AC87F4E-12B5-1B42-AFD2-4DB39B7645C9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25" name="Forme libre : Forme 15">
              <a:extLst>
                <a:ext uri="{FF2B5EF4-FFF2-40B4-BE49-F238E27FC236}">
                  <a16:creationId xmlns=""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26" name="Forme libre : Forme 16">
              <a:extLst>
                <a:ext uri="{FF2B5EF4-FFF2-40B4-BE49-F238E27FC236}">
                  <a16:creationId xmlns=""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30" name="Forme libre : Forme 23">
            <a:extLst>
              <a:ext uri="{FF2B5EF4-FFF2-40B4-BE49-F238E27FC236}">
                <a16:creationId xmlns="" xmlns:a16="http://schemas.microsoft.com/office/drawing/2014/main" id="{CBE3FDC9-67CB-FA42-B127-A36BFF4678BB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31" name="Espace réservé du numéro de diapositive 4">
            <a:extLst>
              <a:ext uri="{FF2B5EF4-FFF2-40B4-BE49-F238E27FC236}">
                <a16:creationId xmlns=""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39150" y="6315076"/>
            <a:ext cx="304800" cy="365125"/>
          </a:xfrm>
        </p:spPr>
        <p:txBody>
          <a:bodyPr rtlCol="0"/>
          <a:lstStyle>
            <a:lvl1pPr>
              <a:defRPr sz="75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0490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ci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2223" y="0"/>
            <a:ext cx="9156224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grpSp>
        <p:nvGrpSpPr>
          <p:cNvPr id="6" name="Groupe 5">
            <a:extLst>
              <a:ext uri="{FF2B5EF4-FFF2-40B4-BE49-F238E27FC236}">
                <a16:creationId xmlns="" xmlns:a16="http://schemas.microsoft.com/office/drawing/2014/main" id="{EA7FF9D7-8545-4547-AC77-A0421EEB9B99}"/>
              </a:ext>
            </a:extLst>
          </p:cNvPr>
          <p:cNvGrpSpPr/>
          <p:nvPr/>
        </p:nvGrpSpPr>
        <p:grpSpPr>
          <a:xfrm>
            <a:off x="0" y="0"/>
            <a:ext cx="5161475" cy="6858876"/>
            <a:chOff x="-5321" y="1096"/>
            <a:chExt cx="5924073" cy="5904197"/>
          </a:xfrm>
        </p:grpSpPr>
        <p:sp>
          <p:nvSpPr>
            <p:cNvPr id="17" name="Triangle rectangle 16">
              <a:extLst>
                <a:ext uri="{FF2B5EF4-FFF2-40B4-BE49-F238E27FC236}">
                  <a16:creationId xmlns=""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8" name="Triangle droit 17">
              <a:extLst>
                <a:ext uri="{FF2B5EF4-FFF2-40B4-BE49-F238E27FC236}">
                  <a16:creationId xmlns=""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9" name="Triangle droit 18">
              <a:extLst>
                <a:ext uri="{FF2B5EF4-FFF2-40B4-BE49-F238E27FC236}">
                  <a16:creationId xmlns=""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12931" y="2807208"/>
            <a:ext cx="37091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2291535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r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 20">
            <a:extLst>
              <a:ext uri="{FF2B5EF4-FFF2-40B4-BE49-F238E27FC236}">
                <a16:creationId xmlns="" xmlns:a16="http://schemas.microsoft.com/office/drawing/2014/main" id="{6E739168-A5E8-443A-B392-7AD4CF8977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5" name="Forme libre : Forme 14">
            <a:extLst>
              <a:ext uri="{FF2B5EF4-FFF2-40B4-BE49-F238E27FC236}">
                <a16:creationId xmlns=""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2223" y="0"/>
            <a:ext cx="9156224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6" name="Forme libre : Forme 15">
            <a:extLst>
              <a:ext uri="{FF2B5EF4-FFF2-40B4-BE49-F238E27FC236}">
                <a16:creationId xmlns=""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0" name="Forme libre : Forme 19">
            <a:extLst>
              <a:ext uri="{FF2B5EF4-FFF2-40B4-BE49-F238E27FC236}">
                <a16:creationId xmlns=""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1143000" y="-1143001"/>
            <a:ext cx="6858000" cy="9144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2" name="Titre 1">
            <a:extLst>
              <a:ext uri="{FF2B5EF4-FFF2-40B4-BE49-F238E27FC236}">
                <a16:creationId xmlns=""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70181" y="3429000"/>
            <a:ext cx="3709199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405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fr-FR" noProof="0"/>
              <a:t>Merci</a:t>
            </a:r>
          </a:p>
        </p:txBody>
      </p:sp>
      <p:sp>
        <p:nvSpPr>
          <p:cNvPr id="35" name="Forme libre : Forme 34">
            <a:extLst>
              <a:ext uri="{FF2B5EF4-FFF2-40B4-BE49-F238E27FC236}">
                <a16:creationId xmlns="" xmlns:a16="http://schemas.microsoft.com/office/drawing/2014/main" id="{C024DCDB-C6BF-455E-AAB8-EAF9DAB302A1}"/>
              </a:ext>
            </a:extLst>
          </p:cNvPr>
          <p:cNvSpPr/>
          <p:nvPr/>
        </p:nvSpPr>
        <p:spPr>
          <a:xfrm rot="13500000">
            <a:off x="-1302864" y="-162471"/>
            <a:ext cx="6043521" cy="6320308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32" name="Forme libre : Forme 31">
            <a:extLst>
              <a:ext uri="{FF2B5EF4-FFF2-40B4-BE49-F238E27FC236}">
                <a16:creationId xmlns="" xmlns:a16="http://schemas.microsoft.com/office/drawing/2014/main" id="{26AFB47A-5D51-4F9C-B01B-977CE5E3C093}"/>
              </a:ext>
            </a:extLst>
          </p:cNvPr>
          <p:cNvSpPr/>
          <p:nvPr/>
        </p:nvSpPr>
        <p:spPr>
          <a:xfrm rot="13500000">
            <a:off x="-1614363" y="-997743"/>
            <a:ext cx="6043521" cy="675666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30" name="Forme libre : Forme 29">
            <a:extLst>
              <a:ext uri="{FF2B5EF4-FFF2-40B4-BE49-F238E27FC236}">
                <a16:creationId xmlns="" xmlns:a16="http://schemas.microsoft.com/office/drawing/2014/main" id="{6997A4FF-7390-4173-8ACD-6CF7145AACEC}"/>
              </a:ext>
            </a:extLst>
          </p:cNvPr>
          <p:cNvSpPr/>
          <p:nvPr/>
        </p:nvSpPr>
        <p:spPr>
          <a:xfrm rot="18900000" flipH="1">
            <a:off x="-2010864" y="-465959"/>
            <a:ext cx="647933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</p:spTree>
    <p:extLst>
      <p:ext uri="{BB962C8B-B14F-4D97-AF65-F5344CB8AC3E}">
        <p14:creationId xmlns:p14="http://schemas.microsoft.com/office/powerpoint/2010/main" val="241672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=""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8115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=""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115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=""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34375" y="6356351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F60DC-949E-4C1B-BD02-04E41E3CEE9D}" type="slidenum">
              <a:rPr lang="fr-FR" smtClean="0"/>
              <a:t>‹N°›</a:t>
            </a:fld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7CDDDB7D-9189-9548-A2B9-81DC62C3C1A3}"/>
              </a:ext>
            </a:extLst>
          </p:cNvPr>
          <p:cNvSpPr/>
          <p:nvPr/>
        </p:nvSpPr>
        <p:spPr>
          <a:xfrm>
            <a:off x="0" y="2"/>
            <a:ext cx="9144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7" name="Forme libre : Forme 9">
            <a:extLst>
              <a:ext uri="{FF2B5EF4-FFF2-40B4-BE49-F238E27FC236}">
                <a16:creationId xmlns="" xmlns:a16="http://schemas.microsoft.com/office/drawing/2014/main" id="{096D8877-6B4A-4540-8927-767DD7401718}"/>
              </a:ext>
            </a:extLst>
          </p:cNvPr>
          <p:cNvSpPr/>
          <p:nvPr/>
        </p:nvSpPr>
        <p:spPr>
          <a:xfrm>
            <a:off x="0" y="2"/>
            <a:ext cx="9144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8" name="Forme libre : Forme 17">
            <a:extLst>
              <a:ext uri="{FF2B5EF4-FFF2-40B4-BE49-F238E27FC236}">
                <a16:creationId xmlns="" xmlns:a16="http://schemas.microsoft.com/office/drawing/2014/main" id="{5AF2E123-FE0F-8541-8E36-5030C450AA7E}"/>
              </a:ext>
            </a:extLst>
          </p:cNvPr>
          <p:cNvSpPr/>
          <p:nvPr/>
        </p:nvSpPr>
        <p:spPr>
          <a:xfrm rot="16200000" flipV="1">
            <a:off x="1365764" y="-915491"/>
            <a:ext cx="6862744" cy="869372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fr-FR" sz="1350" noProof="0"/>
          </a:p>
        </p:txBody>
      </p:sp>
      <p:sp>
        <p:nvSpPr>
          <p:cNvPr id="9" name="Forme libre : Forme 11">
            <a:extLst>
              <a:ext uri="{FF2B5EF4-FFF2-40B4-BE49-F238E27FC236}">
                <a16:creationId xmlns="" xmlns:a16="http://schemas.microsoft.com/office/drawing/2014/main" id="{E5519D99-3B68-924A-9CD0-14B911711CA8}"/>
              </a:ext>
            </a:extLst>
          </p:cNvPr>
          <p:cNvSpPr/>
          <p:nvPr/>
        </p:nvSpPr>
        <p:spPr>
          <a:xfrm rot="16200000" flipV="1">
            <a:off x="1140629" y="-1145372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0" name="Forme libre : Forme 7">
            <a:extLst>
              <a:ext uri="{FF2B5EF4-FFF2-40B4-BE49-F238E27FC236}">
                <a16:creationId xmlns="" xmlns:a16="http://schemas.microsoft.com/office/drawing/2014/main" id="{A09E21A9-FBEF-144C-A152-FE484F3C55C1}"/>
              </a:ext>
            </a:extLst>
          </p:cNvPr>
          <p:cNvSpPr/>
          <p:nvPr/>
        </p:nvSpPr>
        <p:spPr>
          <a:xfrm rot="16200000" flipV="1">
            <a:off x="1140629" y="-1145372"/>
            <a:ext cx="6862744" cy="9144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1" name="Titre 1">
            <a:extLst>
              <a:ext uri="{FF2B5EF4-FFF2-40B4-BE49-F238E27FC236}">
                <a16:creationId xmlns="" xmlns:a16="http://schemas.microsoft.com/office/drawing/2014/main" id="{70C7F2CB-A8CE-1545-A08D-93592C4BAEEA}"/>
              </a:ext>
            </a:extLst>
          </p:cNvPr>
          <p:cNvSpPr txBox="1">
            <a:spLocks/>
          </p:cNvSpPr>
          <p:nvPr/>
        </p:nvSpPr>
        <p:spPr>
          <a:xfrm>
            <a:off x="333375" y="542925"/>
            <a:ext cx="8410575" cy="401648"/>
          </a:xfrm>
          <a:prstGeom prst="rect">
            <a:avLst/>
          </a:prstGeom>
        </p:spPr>
        <p:txBody>
          <a:bodyPr vert="horz" wrap="square" lIns="68580" tIns="34290" rIns="68580" bIns="3429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fr-FR" sz="2400" noProof="0">
                <a:latin typeface="+mj-lt"/>
              </a:rPr>
              <a:t>Modifiez le style du titre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="" xmlns:a16="http://schemas.microsoft.com/office/drawing/2014/main" id="{7068FCE4-1B47-3C4B-B091-013120A97D09}"/>
              </a:ext>
            </a:extLst>
          </p:cNvPr>
          <p:cNvGrpSpPr/>
          <p:nvPr/>
        </p:nvGrpSpPr>
        <p:grpSpPr>
          <a:xfrm rot="16200000">
            <a:off x="307600" y="-241991"/>
            <a:ext cx="535531" cy="483982"/>
            <a:chOff x="10945855" y="7317026"/>
            <a:chExt cx="2483924" cy="2993104"/>
          </a:xfrm>
        </p:grpSpPr>
        <p:sp>
          <p:nvSpPr>
            <p:cNvPr id="13" name="Forme libre : Forme 15">
              <a:extLst>
                <a:ext uri="{FF2B5EF4-FFF2-40B4-BE49-F238E27FC236}">
                  <a16:creationId xmlns=""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  <p:sp>
          <p:nvSpPr>
            <p:cNvPr id="14" name="Forme libre : Forme 16">
              <a:extLst>
                <a:ext uri="{FF2B5EF4-FFF2-40B4-BE49-F238E27FC236}">
                  <a16:creationId xmlns=""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grpSp>
        <p:nvGrpSpPr>
          <p:cNvPr id="15" name="Groupe 14">
            <a:extLst>
              <a:ext uri="{FF2B5EF4-FFF2-40B4-BE49-F238E27FC236}">
                <a16:creationId xmlns="" xmlns:a16="http://schemas.microsoft.com/office/drawing/2014/main" id="{BE1E08A0-195D-694F-947B-986A76FBB93E}"/>
              </a:ext>
            </a:extLst>
          </p:cNvPr>
          <p:cNvGrpSpPr/>
          <p:nvPr/>
        </p:nvGrpSpPr>
        <p:grpSpPr>
          <a:xfrm>
            <a:off x="-1" y="1357409"/>
            <a:ext cx="9144001" cy="4846320"/>
            <a:chOff x="-1" y="1357409"/>
            <a:chExt cx="12192001" cy="4917518"/>
          </a:xfrm>
        </p:grpSpPr>
        <p:sp>
          <p:nvSpPr>
            <p:cNvPr id="16" name="Rectangle : Coin rogné 18">
              <a:extLst>
                <a:ext uri="{FF2B5EF4-FFF2-40B4-BE49-F238E27FC236}">
                  <a16:creationId xmlns=""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fr-FR" sz="1350" noProof="0"/>
            </a:p>
          </p:txBody>
        </p:sp>
        <p:sp>
          <p:nvSpPr>
            <p:cNvPr id="17" name="Rectangle : Coin rogné 2">
              <a:extLst>
                <a:ext uri="{FF2B5EF4-FFF2-40B4-BE49-F238E27FC236}">
                  <a16:creationId xmlns=""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fr-FR" sz="1350" noProof="0"/>
            </a:p>
          </p:txBody>
        </p:sp>
      </p:grpSp>
      <p:sp>
        <p:nvSpPr>
          <p:cNvPr id="18" name="Forme libre : Forme 23">
            <a:extLst>
              <a:ext uri="{FF2B5EF4-FFF2-40B4-BE49-F238E27FC236}">
                <a16:creationId xmlns="" xmlns:a16="http://schemas.microsoft.com/office/drawing/2014/main" id="{A587DEFD-D470-4142-8E0D-A71DDB147C92}"/>
              </a:ext>
            </a:extLst>
          </p:cNvPr>
          <p:cNvSpPr/>
          <p:nvPr/>
        </p:nvSpPr>
        <p:spPr>
          <a:xfrm flipH="1">
            <a:off x="8086725" y="5448298"/>
            <a:ext cx="1057275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350" noProof="0"/>
          </a:p>
        </p:txBody>
      </p:sp>
      <p:sp>
        <p:nvSpPr>
          <p:cNvPr id="19" name="Espace réservé du numéro de diapositive 4">
            <a:extLst>
              <a:ext uri="{FF2B5EF4-FFF2-40B4-BE49-F238E27FC236}">
                <a16:creationId xmlns="" xmlns:a16="http://schemas.microsoft.com/office/drawing/2014/main" id="{7D9BF857-7910-734D-A217-5E3344220AA2}"/>
              </a:ext>
            </a:extLst>
          </p:cNvPr>
          <p:cNvSpPr txBox="1">
            <a:spLocks/>
          </p:cNvSpPr>
          <p:nvPr/>
        </p:nvSpPr>
        <p:spPr>
          <a:xfrm>
            <a:off x="8439150" y="6315076"/>
            <a:ext cx="3048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fr-FR" sz="750" noProof="0" smtClean="0"/>
              <a:pPr/>
              <a:t>‹N°›</a:t>
            </a:fld>
            <a:endParaRPr lang="fr-FR" sz="750" noProof="0"/>
          </a:p>
        </p:txBody>
      </p:sp>
    </p:spTree>
    <p:extLst>
      <p:ext uri="{BB962C8B-B14F-4D97-AF65-F5344CB8AC3E}">
        <p14:creationId xmlns:p14="http://schemas.microsoft.com/office/powerpoint/2010/main" val="60193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4294967295" orient="horz" pos="2160">
          <p15:clr>
            <a:srgbClr val="F26B43"/>
          </p15:clr>
        </p15:guide>
        <p15:guide id="4294967295" pos="3840">
          <p15:clr>
            <a:srgbClr val="F26B43"/>
          </p15:clr>
        </p15:guide>
        <p15:guide id="4294967295" pos="336">
          <p15:clr>
            <a:srgbClr val="F26B43"/>
          </p15:clr>
        </p15:guide>
        <p15:guide id="4294967295" orient="horz" pos="336">
          <p15:clr>
            <a:srgbClr val="F26B43"/>
          </p15:clr>
        </p15:guide>
        <p15:guide id="4294967295" pos="7344">
          <p15:clr>
            <a:srgbClr val="F26B43"/>
          </p15:clr>
        </p15:guide>
        <p15:guide id="4294967295" orient="horz" pos="39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BULMA  CSS 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FRAMEWORK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3448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32524" y="1825625"/>
            <a:ext cx="8559956" cy="4351338"/>
          </a:xfrm>
        </p:spPr>
        <p:txBody>
          <a:bodyPr>
            <a:normAutofit/>
          </a:bodyPr>
          <a:lstStyle/>
          <a:p>
            <a:r>
              <a:rPr lang="fr-FR" sz="2400" dirty="0"/>
              <a:t>Bulma est un framework CSS moderne, gratuit et open source, qui permet de créer rapidement des sites web et applications avec un design responsive, c'est-à-dire qui s'adapte à tous les écrans. Il est basé sur Flexbox, utilise un système de classes intuitif et fournit des composants </a:t>
            </a:r>
            <a:r>
              <a:rPr lang="fr-FR" sz="2400" dirty="0" smtClean="0"/>
              <a:t>préconçus </a:t>
            </a:r>
            <a:r>
              <a:rPr lang="fr-FR" sz="2400" dirty="0"/>
              <a:t>(boutons, cartes, grilles, etc.), ce qui facilite la mise en page sans avoir besoin d'écrire du CSS complexe. Contrairement à d'autres frameworks, Bulma se concentre uniquement sur le CSS, ce qui le rend léger et rapide, car il n'inclut pas de </a:t>
            </a:r>
            <a:r>
              <a:rPr lang="fr-FR" sz="2400" dirty="0" smtClean="0"/>
              <a:t>JavaScript</a:t>
            </a:r>
            <a:endParaRPr lang="fr-FR" sz="2400" dirty="0" smtClean="0"/>
          </a:p>
          <a:p>
            <a:r>
              <a:rPr lang="fr-FR" sz="2400" dirty="0" smtClean="0"/>
              <a:t>Un </a:t>
            </a:r>
            <a:r>
              <a:rPr lang="fr-FR" sz="2400" dirty="0" smtClean="0"/>
              <a:t>Framework </a:t>
            </a:r>
            <a:r>
              <a:rPr lang="fr-FR" sz="2400" dirty="0" smtClean="0"/>
              <a:t>qui se base surtout sur les classes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31099691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La méthodologie BEM (Block </a:t>
            </a:r>
            <a:r>
              <a:rPr lang="fr-FR" b="1" dirty="0" err="1"/>
              <a:t>Element</a:t>
            </a:r>
            <a:r>
              <a:rPr lang="fr-FR" b="1" dirty="0"/>
              <a:t> Modifier)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Block (Bloc) :</a:t>
            </a:r>
            <a:r>
              <a:rPr lang="fr-FR" dirty="0"/>
              <a:t> Une entité autonome, comme un bloc de navigation ou un bouton.</a:t>
            </a:r>
          </a:p>
          <a:p>
            <a:r>
              <a:rPr lang="fr-FR" b="1" dirty="0" err="1"/>
              <a:t>Element</a:t>
            </a:r>
            <a:r>
              <a:rPr lang="fr-FR" b="1" dirty="0"/>
              <a:t> (Élément) :</a:t>
            </a:r>
            <a:r>
              <a:rPr lang="fr-FR" dirty="0"/>
              <a:t> Une partie dépendante d'un Bloc, comme un élément de liste dans un bloc de navigation.</a:t>
            </a:r>
          </a:p>
          <a:p>
            <a:r>
              <a:rPr lang="fr-FR" b="1" dirty="0"/>
              <a:t>Modifier (Modificateur) :</a:t>
            </a:r>
            <a:r>
              <a:rPr lang="fr-FR" dirty="0"/>
              <a:t> Une variante d'un Block ou d'un </a:t>
            </a:r>
            <a:r>
              <a:rPr lang="fr-FR" dirty="0" err="1"/>
              <a:t>Element</a:t>
            </a:r>
            <a:r>
              <a:rPr lang="fr-FR" dirty="0"/>
              <a:t>, comme un bouton "activé" ou un élément de liste "</a:t>
            </a:r>
            <a:r>
              <a:rPr lang="fr-FR" dirty="0" smtClean="0"/>
              <a:t>inactif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769863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blocks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📐 LAYOUT :</a:t>
            </a:r>
          </a:p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b="1" dirty="0"/>
              <a:t>🧩 COMPOSANTS :</a:t>
            </a:r>
          </a:p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>
          <a:xfrm>
            <a:off x="467544" y="2204864"/>
            <a:ext cx="3733800" cy="3505200"/>
          </a:xfrm>
        </p:spPr>
        <p:txBody>
          <a:bodyPr>
            <a:normAutofit/>
          </a:bodyPr>
          <a:lstStyle/>
          <a:p>
            <a:r>
              <a:rPr lang="fr-FR" b="1" dirty="0" smtClean="0"/>
              <a:t>.</a:t>
            </a:r>
            <a:r>
              <a:rPr lang="fr-FR" b="1" dirty="0"/>
              <a:t>container    /* Conteneur centré */</a:t>
            </a:r>
          </a:p>
          <a:p>
            <a:r>
              <a:rPr lang="fr-FR" b="1" dirty="0"/>
              <a:t>.section      /* Section avec espacement */</a:t>
            </a:r>
          </a:p>
          <a:p>
            <a:r>
              <a:rPr lang="fr-FR" b="1" dirty="0"/>
              <a:t>.</a:t>
            </a:r>
            <a:r>
              <a:rPr lang="fr-FR" b="1" dirty="0" err="1"/>
              <a:t>hero</a:t>
            </a:r>
            <a:r>
              <a:rPr lang="fr-FR" b="1" dirty="0"/>
              <a:t>         /* Bannière </a:t>
            </a:r>
            <a:r>
              <a:rPr lang="fr-FR" b="1" dirty="0" err="1"/>
              <a:t>hero</a:t>
            </a:r>
            <a:r>
              <a:rPr lang="fr-FR" b="1" dirty="0"/>
              <a:t> */</a:t>
            </a:r>
          </a:p>
          <a:p>
            <a:r>
              <a:rPr lang="fr-FR" b="1" dirty="0"/>
              <a:t>.</a:t>
            </a:r>
            <a:r>
              <a:rPr lang="fr-FR" b="1" dirty="0" err="1"/>
              <a:t>columns</a:t>
            </a:r>
            <a:r>
              <a:rPr lang="fr-FR" b="1" dirty="0"/>
              <a:t>      /* Système de grille */</a:t>
            </a:r>
          </a:p>
          <a:p>
            <a:r>
              <a:rPr lang="fr-FR" b="1" dirty="0"/>
              <a:t>.</a:t>
            </a:r>
            <a:r>
              <a:rPr lang="fr-FR" b="1" dirty="0" err="1"/>
              <a:t>column</a:t>
            </a:r>
            <a:r>
              <a:rPr lang="fr-FR" b="1" dirty="0"/>
              <a:t>       /* Colonne dans la grille </a:t>
            </a:r>
            <a:r>
              <a:rPr lang="fr-FR" b="1" dirty="0" smtClean="0"/>
              <a:t>*/</a:t>
            </a:r>
          </a:p>
          <a:p>
            <a:endParaRPr lang="fr-FR" b="1" dirty="0"/>
          </a:p>
          <a:p>
            <a:pPr marL="0" indent="0">
              <a:buNone/>
            </a:pPr>
            <a:endParaRPr lang="fr-FR" b="1" dirty="0"/>
          </a:p>
          <a:p>
            <a:pPr marL="0" indent="0">
              <a:buNone/>
            </a:pPr>
            <a:r>
              <a:rPr lang="fr-FR" b="1" dirty="0" smtClean="0"/>
              <a:t> </a:t>
            </a:r>
            <a:endParaRPr lang="fr-FR" b="1" dirty="0"/>
          </a:p>
          <a:p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i="1" dirty="0" smtClean="0"/>
              <a:t>/* </a:t>
            </a:r>
            <a:r>
              <a:rPr lang="fr-FR" i="1" dirty="0"/>
              <a:t>Navigation */</a:t>
            </a:r>
            <a:r>
              <a:rPr lang="fr-FR" dirty="0"/>
              <a:t> .</a:t>
            </a:r>
            <a:r>
              <a:rPr lang="fr-FR" dirty="0" err="1"/>
              <a:t>navbar</a:t>
            </a:r>
            <a:r>
              <a:rPr lang="fr-FR" dirty="0"/>
              <a:t> .</a:t>
            </a:r>
            <a:r>
              <a:rPr lang="fr-FR" dirty="0" err="1"/>
              <a:t>navbar</a:t>
            </a:r>
            <a:r>
              <a:rPr lang="fr-FR" dirty="0"/>
              <a:t>-brand .</a:t>
            </a:r>
            <a:r>
              <a:rPr lang="fr-FR" dirty="0" err="1"/>
              <a:t>navbar</a:t>
            </a:r>
            <a:r>
              <a:rPr lang="fr-FR" dirty="0"/>
              <a:t>-menu .</a:t>
            </a:r>
            <a:r>
              <a:rPr lang="fr-FR" dirty="0" err="1"/>
              <a:t>navbar</a:t>
            </a:r>
            <a:r>
              <a:rPr lang="fr-FR" dirty="0"/>
              <a:t>-item</a:t>
            </a:r>
          </a:p>
          <a:p>
            <a:r>
              <a:rPr lang="en-US" i="1" dirty="0"/>
              <a:t>/* </a:t>
            </a:r>
            <a:r>
              <a:rPr lang="en-US" i="1" dirty="0" err="1"/>
              <a:t>Cartes</a:t>
            </a:r>
            <a:r>
              <a:rPr lang="en-US" i="1" dirty="0"/>
              <a:t> */</a:t>
            </a:r>
            <a:r>
              <a:rPr lang="en-US" dirty="0"/>
              <a:t> .card .card-header .card-content .card-footer</a:t>
            </a:r>
          </a:p>
          <a:p>
            <a:r>
              <a:rPr lang="fr-FR" i="1" dirty="0"/>
              <a:t>/* Messages */</a:t>
            </a:r>
            <a:r>
              <a:rPr lang="fr-FR" dirty="0"/>
              <a:t> .message .message-header .message-body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215159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ELEMENTS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C’est une partie interne d’un block , il n’existe que dans le block et ne peut pas fonctionner seul , nommer </a:t>
            </a:r>
            <a:r>
              <a:rPr lang="fr-FR" dirty="0" err="1" smtClean="0">
                <a:solidFill>
                  <a:srgbClr val="FFFF00"/>
                </a:solidFill>
              </a:rPr>
              <a:t>block_element</a:t>
            </a:r>
            <a:endParaRPr lang="fr-FR" dirty="0" smtClean="0">
              <a:solidFill>
                <a:srgbClr val="FFFF00"/>
              </a:solidFill>
            </a:endParaRPr>
          </a:p>
          <a:p>
            <a:endParaRPr lang="fr-FR" dirty="0">
              <a:solidFill>
                <a:srgbClr val="FFFF00"/>
              </a:solidFill>
            </a:endParaRPr>
          </a:p>
          <a:p>
            <a:r>
              <a:rPr lang="fr-FR" dirty="0" smtClean="0"/>
              <a:t>Ex: </a:t>
            </a:r>
            <a:r>
              <a:rPr lang="fr-FR" dirty="0" err="1" smtClean="0"/>
              <a:t>card_title</a:t>
            </a:r>
            <a:r>
              <a:rPr lang="fr-FR" dirty="0" smtClean="0"/>
              <a:t> </a:t>
            </a:r>
          </a:p>
          <a:p>
            <a:r>
              <a:rPr lang="fr-FR" dirty="0" err="1" smtClean="0"/>
              <a:t>Card_text</a:t>
            </a:r>
            <a:r>
              <a:rPr lang="fr-FR" dirty="0" smtClean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007743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MODIFICATEURS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                     IS </a:t>
            </a:r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 smtClean="0"/>
              <a:t>                   HAS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IS : </a:t>
            </a:r>
            <a:r>
              <a:rPr lang="fr-FR" dirty="0"/>
              <a:t>→ </a:t>
            </a:r>
            <a:r>
              <a:rPr lang="fr-FR" b="1" dirty="0"/>
              <a:t>Identité</a:t>
            </a:r>
            <a:r>
              <a:rPr lang="fr-FR" dirty="0"/>
              <a:t> du composant</a:t>
            </a:r>
            <a:endParaRPr lang="fr-FR" dirty="0" smtClean="0"/>
          </a:p>
          <a:p>
            <a:r>
              <a:rPr lang="fr-FR" b="1" dirty="0" err="1"/>
              <a:t>is</a:t>
            </a:r>
            <a:r>
              <a:rPr lang="fr-FR" b="1" dirty="0"/>
              <a:t>- = CE QUE JE SUIS</a:t>
            </a:r>
          </a:p>
          <a:p>
            <a:r>
              <a:rPr lang="fr-FR" dirty="0"/>
              <a:t>Ex: &lt;</a:t>
            </a:r>
            <a:r>
              <a:rPr lang="fr-FR" dirty="0" err="1"/>
              <a:t>button</a:t>
            </a:r>
            <a:r>
              <a:rPr lang="fr-FR" dirty="0"/>
              <a:t> class="</a:t>
            </a:r>
            <a:r>
              <a:rPr lang="fr-FR" dirty="0" err="1"/>
              <a:t>button</a:t>
            </a:r>
            <a:r>
              <a:rPr lang="fr-FR" dirty="0"/>
              <a:t> </a:t>
            </a:r>
            <a:r>
              <a:rPr lang="fr-FR" dirty="0" err="1"/>
              <a:t>is-primary</a:t>
            </a:r>
            <a:r>
              <a:rPr lang="fr-FR" dirty="0"/>
              <a:t>"&gt;Je SUIS un bouton primaire&lt;/</a:t>
            </a:r>
            <a:r>
              <a:rPr lang="fr-FR" dirty="0" err="1"/>
              <a:t>button</a:t>
            </a:r>
            <a:r>
              <a:rPr lang="fr-FR" dirty="0"/>
              <a:t>&gt;</a:t>
            </a:r>
          </a:p>
          <a:p>
            <a:r>
              <a:rPr lang="fr-FR" dirty="0"/>
              <a:t>&lt;div class="message </a:t>
            </a:r>
            <a:r>
              <a:rPr lang="fr-FR" dirty="0" err="1"/>
              <a:t>is</a:t>
            </a:r>
            <a:r>
              <a:rPr lang="fr-FR" dirty="0"/>
              <a:t>-danger"&gt;Je SUIS un message d'erreur&lt;/div&gt;</a:t>
            </a:r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endParaRPr lang="fr-FR" dirty="0"/>
          </a:p>
          <a:p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/>
              <a:t>HAS:→ </a:t>
            </a:r>
            <a:r>
              <a:rPr lang="fr-FR" b="1" dirty="0"/>
              <a:t>Contenu</a:t>
            </a:r>
            <a:r>
              <a:rPr lang="fr-FR" dirty="0"/>
              <a:t> du composant</a:t>
            </a:r>
          </a:p>
          <a:p>
            <a:r>
              <a:rPr lang="fr-FR" b="1" dirty="0"/>
              <a:t>has- = CE QUE JE CONTIENS</a:t>
            </a:r>
          </a:p>
          <a:p>
            <a:r>
              <a:rPr lang="fr-FR" dirty="0"/>
              <a:t>Ex:&lt;div class="has-</a:t>
            </a:r>
            <a:r>
              <a:rPr lang="fr-FR" dirty="0" err="1"/>
              <a:t>text</a:t>
            </a:r>
            <a:r>
              <a:rPr lang="fr-FR" dirty="0"/>
              <a:t>-</a:t>
            </a:r>
            <a:r>
              <a:rPr lang="fr-FR" dirty="0" err="1"/>
              <a:t>primary</a:t>
            </a:r>
            <a:r>
              <a:rPr lang="fr-FR" dirty="0"/>
              <a:t>"&gt;Je CONTIENS du texte primaire&lt;/div&gt;</a:t>
            </a:r>
          </a:p>
          <a:p>
            <a:r>
              <a:rPr lang="fr-FR" dirty="0"/>
              <a:t>&lt;section class="has-background-</a:t>
            </a:r>
            <a:r>
              <a:rPr lang="fr-FR" dirty="0" err="1"/>
              <a:t>dark</a:t>
            </a:r>
            <a:r>
              <a:rPr lang="fr-FR" dirty="0"/>
              <a:t>"&gt;Je CONTIENS un fond sombre&lt;/section&gt;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44253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Responsives et couleurs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RESPONSIVES :</a:t>
            </a:r>
          </a:p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LES COULEURS:</a:t>
            </a:r>
          </a:p>
          <a:p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fr-FR" dirty="0" smtClean="0"/>
          </a:p>
          <a:p>
            <a:r>
              <a:rPr lang="en-US" dirty="0"/>
              <a:t>is-mobile      /* &lt; 1024px */</a:t>
            </a:r>
          </a:p>
          <a:p>
            <a:r>
              <a:rPr lang="en-US" dirty="0"/>
              <a:t>is-desktop     /* ≥ 1024px */</a:t>
            </a:r>
          </a:p>
          <a:p>
            <a:r>
              <a:rPr lang="en-US" dirty="0"/>
              <a:t>is-widescreen  /* ≥ 1216px */ </a:t>
            </a:r>
          </a:p>
          <a:p>
            <a:r>
              <a:rPr lang="en-US" dirty="0"/>
              <a:t>is-</a:t>
            </a:r>
            <a:r>
              <a:rPr lang="en-US" dirty="0" err="1"/>
              <a:t>fullhd</a:t>
            </a:r>
            <a:r>
              <a:rPr lang="en-US" dirty="0"/>
              <a:t>      /* ≥ 1408px </a:t>
            </a:r>
            <a:r>
              <a:rPr lang="en-US" dirty="0" smtClean="0"/>
              <a:t>*/</a:t>
            </a:r>
          </a:p>
          <a:p>
            <a:endParaRPr lang="en-US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fr-FR" dirty="0" err="1" smtClean="0"/>
              <a:t>is-primary</a:t>
            </a:r>
            <a:r>
              <a:rPr lang="fr-FR" dirty="0" smtClean="0"/>
              <a:t>    </a:t>
            </a:r>
            <a:r>
              <a:rPr lang="fr-FR" dirty="0"/>
              <a:t>/* Bleu primaire */</a:t>
            </a:r>
          </a:p>
          <a:p>
            <a:r>
              <a:rPr lang="fr-FR" dirty="0" err="1"/>
              <a:t>is-link</a:t>
            </a:r>
            <a:r>
              <a:rPr lang="fr-FR" dirty="0"/>
              <a:t>       /* Bleu lien */</a:t>
            </a:r>
          </a:p>
          <a:p>
            <a:r>
              <a:rPr lang="fr-FR" dirty="0" err="1"/>
              <a:t>is</a:t>
            </a:r>
            <a:r>
              <a:rPr lang="fr-FR" dirty="0"/>
              <a:t>-info       /* Bleu clair */</a:t>
            </a:r>
          </a:p>
          <a:p>
            <a:r>
              <a:rPr lang="fr-FR" dirty="0" err="1"/>
              <a:t>is-success</a:t>
            </a:r>
            <a:r>
              <a:rPr lang="fr-FR" dirty="0"/>
              <a:t>    /* Vert */</a:t>
            </a:r>
          </a:p>
          <a:p>
            <a:r>
              <a:rPr lang="fr-FR" dirty="0" err="1"/>
              <a:t>is</a:t>
            </a:r>
            <a:r>
              <a:rPr lang="fr-FR" dirty="0"/>
              <a:t>-warning    /* Jaune */</a:t>
            </a:r>
          </a:p>
          <a:p>
            <a:r>
              <a:rPr lang="fr-FR" dirty="0" err="1"/>
              <a:t>is</a:t>
            </a:r>
            <a:r>
              <a:rPr lang="fr-FR" dirty="0"/>
              <a:t>-danger     /* Rouge */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074506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STYLES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📏 MARGINS :</a:t>
            </a:r>
          </a:p>
          <a:p>
            <a:r>
              <a:rPr lang="en-US" dirty="0"/>
              <a:t>mt-0 à mt-6    /* margin-top */</a:t>
            </a:r>
          </a:p>
          <a:p>
            <a:r>
              <a:rPr lang="en-US" dirty="0"/>
              <a:t>mb-0 à mb-6    /* margin-bottom */</a:t>
            </a:r>
          </a:p>
          <a:p>
            <a:r>
              <a:rPr lang="en-US" dirty="0"/>
              <a:t>ml-0 à ml-6    /* margin-left */ </a:t>
            </a:r>
          </a:p>
          <a:p>
            <a:r>
              <a:rPr lang="en-US" dirty="0"/>
              <a:t>mr-0 à mr-6    /* margin-right */</a:t>
            </a:r>
          </a:p>
          <a:p>
            <a:r>
              <a:rPr lang="en-US" dirty="0"/>
              <a:t>mx-0 à mx-6    /* margin horizontal */</a:t>
            </a:r>
          </a:p>
          <a:p>
            <a:r>
              <a:rPr lang="en-US" dirty="0"/>
              <a:t>my-0 à my-6    /* margin vertical */ 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🛋️ PADDINGS :</a:t>
            </a:r>
          </a:p>
          <a:p>
            <a:r>
              <a:rPr lang="fr-FR" dirty="0"/>
              <a:t>pt-0 à pt-6    /* </a:t>
            </a:r>
            <a:r>
              <a:rPr lang="fr-FR" dirty="0" err="1"/>
              <a:t>padding</a:t>
            </a:r>
            <a:r>
              <a:rPr lang="fr-FR" dirty="0"/>
              <a:t>-top */</a:t>
            </a:r>
          </a:p>
          <a:p>
            <a:r>
              <a:rPr lang="fr-FR" dirty="0"/>
              <a:t>pb-0 à pb-6    /* </a:t>
            </a:r>
            <a:r>
              <a:rPr lang="fr-FR" dirty="0" err="1"/>
              <a:t>padding-bottom</a:t>
            </a:r>
            <a:r>
              <a:rPr lang="fr-FR" dirty="0"/>
              <a:t> */</a:t>
            </a:r>
          </a:p>
          <a:p>
            <a:r>
              <a:rPr lang="fr-FR" dirty="0"/>
              <a:t>pl-0 à pl-6    /* </a:t>
            </a:r>
            <a:r>
              <a:rPr lang="fr-FR" dirty="0" err="1"/>
              <a:t>padding-left</a:t>
            </a:r>
            <a:r>
              <a:rPr lang="fr-FR" dirty="0"/>
              <a:t> */</a:t>
            </a:r>
          </a:p>
          <a:p>
            <a:r>
              <a:rPr lang="fr-FR" dirty="0"/>
              <a:t>pr-0 à pr-6    /* </a:t>
            </a:r>
            <a:r>
              <a:rPr lang="fr-FR" dirty="0" err="1"/>
              <a:t>padding</a:t>
            </a:r>
            <a:r>
              <a:rPr lang="fr-FR" dirty="0"/>
              <a:t>-right */ </a:t>
            </a:r>
          </a:p>
          <a:p>
            <a:r>
              <a:rPr lang="fr-FR" dirty="0"/>
              <a:t>px-0 à px-6    /* </a:t>
            </a:r>
            <a:r>
              <a:rPr lang="fr-FR" dirty="0" err="1"/>
              <a:t>padding</a:t>
            </a:r>
            <a:r>
              <a:rPr lang="fr-FR" dirty="0"/>
              <a:t> horizontal */</a:t>
            </a:r>
          </a:p>
          <a:p>
            <a:r>
              <a:rPr lang="fr-FR" dirty="0"/>
              <a:t>py-0 à py-6    /* </a:t>
            </a:r>
            <a:r>
              <a:rPr lang="fr-FR" dirty="0" err="1"/>
              <a:t>padding</a:t>
            </a:r>
            <a:r>
              <a:rPr lang="fr-FR" dirty="0"/>
              <a:t> vertical */</a:t>
            </a:r>
          </a:p>
          <a:p>
            <a:r>
              <a:rPr lang="fr-FR" dirty="0"/>
              <a:t>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1930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STYLES TEXTES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3375" y="1844824"/>
            <a:ext cx="4095460" cy="46592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Transformation </a:t>
            </a:r>
            <a:r>
              <a:rPr lang="fr-FR" sz="2000" b="1" dirty="0" smtClean="0"/>
              <a:t>texte :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fr-FR" b="1" dirty="0" smtClean="0"/>
              <a:t>is-capitalized  </a:t>
            </a:r>
            <a:r>
              <a:rPr lang="fr-FR" b="1" dirty="0"/>
              <a:t>/* Première lettre de chaque mot en majuscule </a:t>
            </a:r>
            <a:r>
              <a:rPr lang="fr-FR" b="1" dirty="0" smtClean="0"/>
              <a:t>*/</a:t>
            </a:r>
          </a:p>
          <a:p>
            <a:endParaRPr lang="fr-FR" b="1" dirty="0"/>
          </a:p>
          <a:p>
            <a:r>
              <a:rPr lang="fr-FR" b="1" dirty="0"/>
              <a:t>is-lowercase    /* Tout en minuscules */</a:t>
            </a:r>
          </a:p>
          <a:p>
            <a:endParaRPr lang="fr-FR" b="1" dirty="0" smtClean="0"/>
          </a:p>
          <a:p>
            <a:endParaRPr lang="fr-FR" b="1" dirty="0"/>
          </a:p>
          <a:p>
            <a:r>
              <a:rPr lang="fr-FR" b="1" dirty="0" smtClean="0"/>
              <a:t>is-uppercase    </a:t>
            </a:r>
            <a:r>
              <a:rPr lang="fr-FR" b="1" dirty="0"/>
              <a:t>/* Tout en majuscules </a:t>
            </a:r>
            <a:r>
              <a:rPr lang="fr-FR" b="1" dirty="0" smtClean="0"/>
              <a:t>*/</a:t>
            </a:r>
            <a:endParaRPr lang="fr-FR" b="1" dirty="0"/>
          </a:p>
          <a:p>
            <a:endParaRPr lang="fr-FR" b="1" dirty="0" smtClean="0"/>
          </a:p>
          <a:p>
            <a:pPr marL="0" indent="0">
              <a:buNone/>
            </a:pPr>
            <a:endParaRPr lang="fr-FR" b="1" dirty="0" smtClean="0"/>
          </a:p>
          <a:p>
            <a:r>
              <a:rPr lang="fr-FR" b="1" dirty="0" smtClean="0"/>
              <a:t>is-italic       </a:t>
            </a:r>
            <a:r>
              <a:rPr lang="fr-FR" b="1" dirty="0"/>
              <a:t>/* Texte en italique </a:t>
            </a:r>
            <a:r>
              <a:rPr lang="fr-FR" b="1" dirty="0" smtClean="0"/>
              <a:t>*/ </a:t>
            </a:r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55622" y="2125876"/>
            <a:ext cx="3888328" cy="4659248"/>
          </a:xfrm>
        </p:spPr>
        <p:txBody>
          <a:bodyPr/>
          <a:lstStyle/>
          <a:p>
            <a:endParaRPr lang="fr-FR" b="1" dirty="0" smtClean="0"/>
          </a:p>
          <a:p>
            <a:endParaRPr lang="fr-FR" b="1" dirty="0"/>
          </a:p>
          <a:p>
            <a:pPr marL="0" indent="0">
              <a:buNone/>
            </a:pPr>
            <a:r>
              <a:rPr lang="fr-FR" b="1" dirty="0" smtClean="0"/>
              <a:t> </a:t>
            </a:r>
            <a:r>
              <a:rPr lang="fr-FR" b="1" dirty="0"/>
              <a:t> POSITIONNEMENT </a:t>
            </a:r>
            <a:r>
              <a:rPr lang="fr-FR" b="1" dirty="0" smtClean="0"/>
              <a:t>:</a:t>
            </a:r>
          </a:p>
          <a:p>
            <a:pPr marL="0" indent="0">
              <a:buNone/>
            </a:pPr>
            <a:endParaRPr lang="fr-FR" b="1" dirty="0"/>
          </a:p>
          <a:p>
            <a:r>
              <a:rPr lang="en-US" b="1" dirty="0"/>
              <a:t>is-pulled-left   /* float: left */</a:t>
            </a:r>
          </a:p>
          <a:p>
            <a:endParaRPr lang="en-US" b="1" dirty="0" smtClean="0"/>
          </a:p>
          <a:p>
            <a:r>
              <a:rPr lang="en-US" b="1" dirty="0" smtClean="0"/>
              <a:t>is-pulled-right  </a:t>
            </a:r>
            <a:r>
              <a:rPr lang="en-US" b="1" dirty="0"/>
              <a:t>/* float: right */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 smtClean="0"/>
              <a:t>is-</a:t>
            </a:r>
            <a:r>
              <a:rPr lang="en-US" b="1" dirty="0" err="1" smtClean="0"/>
              <a:t>clearfix</a:t>
            </a:r>
            <a:r>
              <a:rPr lang="en-US" b="1" dirty="0" smtClean="0"/>
              <a:t>      </a:t>
            </a:r>
            <a:r>
              <a:rPr lang="en-US" b="1" dirty="0"/>
              <a:t>/* Clear les floats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1241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STYLE NAVBBAR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33375" y="1916832"/>
            <a:ext cx="3888328" cy="4659248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  <a:r>
              <a:rPr lang="en-US" dirty="0" err="1"/>
              <a:t>navbar</a:t>
            </a:r>
            <a:r>
              <a:rPr lang="en-US" dirty="0"/>
              <a:t> - </a:t>
            </a:r>
            <a:r>
              <a:rPr lang="en-US" dirty="0" err="1"/>
              <a:t>Conteneur</a:t>
            </a:r>
            <a:r>
              <a:rPr lang="en-US" dirty="0"/>
              <a:t> </a:t>
            </a:r>
            <a:r>
              <a:rPr lang="en-US" dirty="0" smtClean="0"/>
              <a:t>principal</a:t>
            </a:r>
          </a:p>
          <a:p>
            <a:endParaRPr lang="en-US" dirty="0"/>
          </a:p>
          <a:p>
            <a:r>
              <a:rPr lang="en-US" dirty="0"/>
              <a:t>.</a:t>
            </a:r>
            <a:r>
              <a:rPr lang="en-US" dirty="0" err="1"/>
              <a:t>navbar</a:t>
            </a:r>
            <a:r>
              <a:rPr lang="en-US" dirty="0"/>
              <a:t>-brand - </a:t>
            </a:r>
            <a:r>
              <a:rPr lang="en-US" dirty="0" err="1"/>
              <a:t>Partie</a:t>
            </a:r>
            <a:r>
              <a:rPr lang="en-US" dirty="0"/>
              <a:t> </a:t>
            </a:r>
            <a:r>
              <a:rPr lang="en-US" dirty="0" smtClean="0"/>
              <a:t>logo/burger</a:t>
            </a:r>
          </a:p>
          <a:p>
            <a:endParaRPr lang="en-US" dirty="0"/>
          </a:p>
          <a:p>
            <a:r>
              <a:rPr lang="en-US" dirty="0"/>
              <a:t>.</a:t>
            </a:r>
            <a:r>
              <a:rPr lang="en-US" dirty="0" err="1"/>
              <a:t>navbar</a:t>
            </a:r>
            <a:r>
              <a:rPr lang="en-US" dirty="0"/>
              <a:t>-menu - </a:t>
            </a:r>
            <a:r>
              <a:rPr lang="en-US" dirty="0" err="1"/>
              <a:t>Partie</a:t>
            </a:r>
            <a:r>
              <a:rPr lang="en-US" dirty="0"/>
              <a:t> menu </a:t>
            </a:r>
            <a:r>
              <a:rPr lang="en-US" dirty="0" smtClean="0"/>
              <a:t>deployable</a:t>
            </a:r>
          </a:p>
          <a:p>
            <a:endParaRPr lang="en-US" dirty="0"/>
          </a:p>
          <a:p>
            <a:r>
              <a:rPr lang="en-US" dirty="0"/>
              <a:t>.</a:t>
            </a:r>
            <a:r>
              <a:rPr lang="en-US" dirty="0" err="1"/>
              <a:t>navbar</a:t>
            </a:r>
            <a:r>
              <a:rPr lang="en-US" dirty="0"/>
              <a:t>-start / .</a:t>
            </a:r>
            <a:r>
              <a:rPr lang="en-US" dirty="0" err="1"/>
              <a:t>navbar</a:t>
            </a:r>
            <a:r>
              <a:rPr lang="en-US" dirty="0"/>
              <a:t>-end - </a:t>
            </a:r>
            <a:r>
              <a:rPr lang="en-US" dirty="0" err="1"/>
              <a:t>Alignement</a:t>
            </a:r>
            <a:r>
              <a:rPr lang="en-US" dirty="0"/>
              <a:t> des </a:t>
            </a:r>
            <a:r>
              <a:rPr lang="en-US" dirty="0" smtClean="0"/>
              <a:t>items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.is-fixed-top / .is-fixed-bottom - Position fixe</a:t>
            </a:r>
          </a:p>
          <a:p>
            <a:endParaRPr lang="fr-FR" dirty="0" smtClean="0"/>
          </a:p>
          <a:p>
            <a:r>
              <a:rPr lang="fr-FR" dirty="0" smtClean="0"/>
              <a:t>!</a:t>
            </a:r>
            <a:r>
              <a:rPr lang="fr-FR" dirty="0" err="1" smtClean="0"/>
              <a:t>ù$ù</a:t>
            </a:r>
            <a:r>
              <a:rPr lang="fr-FR" dirty="0" smtClean="0"/>
              <a:t> </a:t>
            </a:r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855622" y="2172236"/>
            <a:ext cx="3888328" cy="4659248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Pour le </a:t>
            </a:r>
            <a:r>
              <a:rPr lang="fr-FR" b="1" dirty="0" err="1"/>
              <a:t>Hero</a:t>
            </a:r>
            <a:r>
              <a:rPr lang="fr-FR" b="1" dirty="0"/>
              <a:t> :</a:t>
            </a:r>
          </a:p>
          <a:p>
            <a:r>
              <a:rPr lang="fr-FR" dirty="0"/>
              <a:t>.</a:t>
            </a:r>
            <a:r>
              <a:rPr lang="fr-FR" dirty="0" err="1"/>
              <a:t>hero</a:t>
            </a:r>
            <a:r>
              <a:rPr lang="fr-FR" dirty="0"/>
              <a:t> - Conteneur </a:t>
            </a:r>
            <a:r>
              <a:rPr lang="fr-FR" dirty="0" smtClean="0"/>
              <a:t>principal</a:t>
            </a:r>
          </a:p>
          <a:p>
            <a:endParaRPr lang="fr-FR" dirty="0"/>
          </a:p>
          <a:p>
            <a:r>
              <a:rPr lang="fr-FR" dirty="0"/>
              <a:t>.</a:t>
            </a:r>
            <a:r>
              <a:rPr lang="fr-FR" dirty="0" err="1"/>
              <a:t>hero</a:t>
            </a:r>
            <a:r>
              <a:rPr lang="fr-FR" dirty="0"/>
              <a:t>-body - Contenu du </a:t>
            </a:r>
            <a:r>
              <a:rPr lang="fr-FR" dirty="0" err="1" smtClean="0"/>
              <a:t>hero</a:t>
            </a:r>
            <a:endParaRPr lang="fr-FR" dirty="0" smtClean="0"/>
          </a:p>
          <a:p>
            <a:endParaRPr lang="fr-FR" dirty="0"/>
          </a:p>
          <a:p>
            <a:r>
              <a:rPr lang="fr-FR" dirty="0"/>
              <a:t>.</a:t>
            </a:r>
            <a:r>
              <a:rPr lang="fr-FR" dirty="0" err="1"/>
              <a:t>is-primary</a:t>
            </a:r>
            <a:r>
              <a:rPr lang="fr-FR" dirty="0"/>
              <a:t> / .</a:t>
            </a:r>
            <a:r>
              <a:rPr lang="fr-FR" dirty="0" err="1"/>
              <a:t>is-success</a:t>
            </a:r>
            <a:r>
              <a:rPr lang="fr-FR" dirty="0"/>
              <a:t> etc. </a:t>
            </a:r>
            <a:r>
              <a:rPr lang="fr-FR" dirty="0" smtClean="0"/>
              <a:t>– Couleurs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dirty="0"/>
              <a:t>.</a:t>
            </a:r>
            <a:r>
              <a:rPr lang="fr-FR" dirty="0" err="1"/>
              <a:t>is</a:t>
            </a:r>
            <a:r>
              <a:rPr lang="fr-FR" dirty="0"/>
              <a:t>-medium / .</a:t>
            </a:r>
            <a:r>
              <a:rPr lang="fr-FR" dirty="0" err="1"/>
              <a:t>is</a:t>
            </a:r>
            <a:r>
              <a:rPr lang="fr-FR" dirty="0"/>
              <a:t>-large / .</a:t>
            </a:r>
            <a:r>
              <a:rPr lang="fr-FR" dirty="0" err="1"/>
              <a:t>is-fullheight</a:t>
            </a:r>
            <a:r>
              <a:rPr lang="fr-FR" dirty="0"/>
              <a:t> - Tailles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20241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IMAGES ET VIDEOS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>
          <a:xfrm>
            <a:off x="637804" y="1681163"/>
            <a:ext cx="3877816" cy="862707"/>
          </a:xfrm>
        </p:spPr>
        <p:txBody>
          <a:bodyPr/>
          <a:lstStyle/>
          <a:p>
            <a:r>
              <a:rPr lang="fr-FR" b="1" dirty="0" smtClean="0"/>
              <a:t>             Images</a:t>
            </a:r>
            <a:endParaRPr lang="fr-FR" b="1" dirty="0"/>
          </a:p>
          <a:p>
            <a:endParaRPr lang="fr-FR" dirty="0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FR" dirty="0" smtClean="0"/>
              <a:t>                   Vidéos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>
          <a:xfrm>
            <a:off x="333376" y="2505075"/>
            <a:ext cx="4542234" cy="3684588"/>
          </a:xfrm>
        </p:spPr>
        <p:txBody>
          <a:bodyPr>
            <a:normAutofit/>
          </a:bodyPr>
          <a:lstStyle/>
          <a:p>
            <a:r>
              <a:rPr lang="fr-FR" sz="1600" b="1" dirty="0" smtClean="0"/>
              <a:t>Classes </a:t>
            </a:r>
            <a:r>
              <a:rPr lang="fr-FR" sz="1600" b="1" dirty="0"/>
              <a:t>Bulma :</a:t>
            </a:r>
            <a:endParaRPr lang="fr-FR" sz="1600" dirty="0"/>
          </a:p>
          <a:p>
            <a:pPr lvl="1"/>
            <a:r>
              <a:rPr lang="fr-FR" sz="1600" dirty="0"/>
              <a:t>Utilisez la classe .image sur un conteneur &lt;div&gt; ou &lt;a&gt; pour un style de base.</a:t>
            </a:r>
          </a:p>
          <a:p>
            <a:pPr lvl="1"/>
            <a:r>
              <a:rPr lang="fr-FR" sz="1600" dirty="0"/>
              <a:t>Appliquez des tailles avec des proportions : .is-1by1, .is-4by3, .is-16by9.</a:t>
            </a:r>
          </a:p>
          <a:p>
            <a:pPr lvl="1"/>
            <a:r>
              <a:rPr lang="fr-FR" sz="1600" dirty="0"/>
              <a:t>Ajoutez des styles de forme : .</a:t>
            </a:r>
            <a:r>
              <a:rPr lang="fr-FR" sz="1600" dirty="0" err="1"/>
              <a:t>is-rounded</a:t>
            </a:r>
            <a:r>
              <a:rPr lang="fr-FR" sz="1600" dirty="0"/>
              <a:t>, .</a:t>
            </a:r>
            <a:r>
              <a:rPr lang="fr-FR" sz="1600" dirty="0" err="1"/>
              <a:t>is</a:t>
            </a:r>
            <a:r>
              <a:rPr lang="fr-FR" sz="1600" dirty="0"/>
              <a:t>-square</a:t>
            </a:r>
            <a:r>
              <a:rPr lang="fr-FR" sz="1600" dirty="0" smtClean="0"/>
              <a:t>.</a:t>
            </a:r>
          </a:p>
          <a:p>
            <a:pPr lvl="1"/>
            <a:r>
              <a:rPr lang="fr-FR" sz="1600" dirty="0" smtClean="0"/>
              <a:t>Ex: </a:t>
            </a:r>
            <a:r>
              <a:rPr lang="en-US" sz="1600" dirty="0"/>
              <a:t>&lt;figure class="image is-128x128"&gt; &lt;</a:t>
            </a:r>
            <a:r>
              <a:rPr lang="en-US" sz="1600" dirty="0" err="1"/>
              <a:t>img</a:t>
            </a:r>
            <a:r>
              <a:rPr lang="en-US" sz="1600" dirty="0"/>
              <a:t> </a:t>
            </a:r>
            <a:r>
              <a:rPr lang="en-US" sz="1600" dirty="0" err="1"/>
              <a:t>src</a:t>
            </a:r>
            <a:r>
              <a:rPr lang="en-US" sz="1600" dirty="0"/>
              <a:t>="https://bulma.io/assets/images/placeholders/256x256.png" /&gt; &lt;/figure&gt;</a:t>
            </a:r>
            <a:endParaRPr lang="fr-FR" sz="1600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pPr lvl="1"/>
            <a:endParaRPr lang="fr-FR" dirty="0" smtClean="0"/>
          </a:p>
          <a:p>
            <a:pPr lvl="1"/>
            <a:endParaRPr lang="fr-FR" dirty="0"/>
          </a:p>
          <a:p>
            <a:endParaRPr lang="fr-FR" dirty="0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r>
              <a:rPr lang="fr-FR" sz="1800" dirty="0"/>
              <a:t>Utilisez un conteneur &lt;div&gt; avec la classe </a:t>
            </a:r>
            <a:r>
              <a:rPr lang="fr-FR" sz="1800" dirty="0" err="1"/>
              <a:t>is</a:t>
            </a:r>
            <a:r>
              <a:rPr lang="fr-FR" sz="1800" dirty="0"/>
              <a:t>-responsive autour de votre élément vidéo (&lt;</a:t>
            </a:r>
            <a:r>
              <a:rPr lang="fr-FR" sz="1800" dirty="0" err="1"/>
              <a:t>video</a:t>
            </a:r>
            <a:r>
              <a:rPr lang="fr-FR" sz="1800" dirty="0"/>
              <a:t>&gt; ou &lt;</a:t>
            </a:r>
            <a:r>
              <a:rPr lang="fr-FR" sz="1800" dirty="0" err="1"/>
              <a:t>iframe</a:t>
            </a:r>
            <a:r>
              <a:rPr lang="fr-FR" sz="1800" dirty="0"/>
              <a:t>&gt; pour les vidéos externes comme </a:t>
            </a:r>
            <a:r>
              <a:rPr lang="fr-FR" sz="1800" dirty="0" err="1" smtClean="0"/>
              <a:t>YouTube</a:t>
            </a:r>
            <a:r>
              <a:rPr lang="fr-FR" sz="1800" dirty="0" smtClean="0"/>
              <a:t>/</a:t>
            </a:r>
            <a:r>
              <a:rPr lang="fr-FR" sz="1800" dirty="0" err="1" smtClean="0"/>
              <a:t>Vim</a:t>
            </a:r>
            <a:endParaRPr lang="fr-FR" sz="1800" dirty="0" smtClean="0"/>
          </a:p>
          <a:p>
            <a:r>
              <a:rPr lang="fr-FR" sz="1800" dirty="0" smtClean="0"/>
              <a:t>Ex: &lt;div </a:t>
            </a:r>
            <a:r>
              <a:rPr lang="fr-FR" sz="1800" dirty="0"/>
              <a:t>class="</a:t>
            </a:r>
            <a:r>
              <a:rPr lang="fr-FR" sz="1800" dirty="0" err="1"/>
              <a:t>video</a:t>
            </a:r>
            <a:r>
              <a:rPr lang="fr-FR" sz="1800" dirty="0"/>
              <a:t>-container </a:t>
            </a:r>
            <a:r>
              <a:rPr lang="fr-FR" sz="1800" dirty="0" err="1"/>
              <a:t>is</a:t>
            </a:r>
            <a:r>
              <a:rPr lang="fr-FR" sz="1800" dirty="0"/>
              <a:t>-responsive"&gt; </a:t>
            </a:r>
            <a:r>
              <a:rPr lang="fr-FR" sz="1800" i="1" dirty="0"/>
              <a:t>&lt;!-- Votre balise vidéo ou </a:t>
            </a:r>
            <a:r>
              <a:rPr lang="fr-FR" sz="1800" i="1" dirty="0" err="1"/>
              <a:t>iframe</a:t>
            </a:r>
            <a:r>
              <a:rPr lang="fr-FR" sz="1800" i="1" dirty="0"/>
              <a:t> --&gt;</a:t>
            </a:r>
            <a:r>
              <a:rPr lang="fr-FR" sz="1800" dirty="0"/>
              <a:t> &lt;</a:t>
            </a:r>
            <a:r>
              <a:rPr lang="fr-FR" sz="1800" dirty="0" err="1"/>
              <a:t>video</a:t>
            </a:r>
            <a:r>
              <a:rPr lang="fr-FR" sz="1800" dirty="0"/>
              <a:t> </a:t>
            </a:r>
            <a:r>
              <a:rPr lang="fr-FR" sz="1800" dirty="0" err="1"/>
              <a:t>controls</a:t>
            </a:r>
            <a:r>
              <a:rPr lang="fr-FR" sz="1800" dirty="0"/>
              <a:t> </a:t>
            </a:r>
            <a:r>
              <a:rPr lang="fr-FR" sz="1800" dirty="0" err="1"/>
              <a:t>width</a:t>
            </a:r>
            <a:r>
              <a:rPr lang="fr-FR" sz="1800" dirty="0"/>
              <a:t>="100%"&gt; &lt;source </a:t>
            </a:r>
            <a:r>
              <a:rPr lang="fr-FR" sz="1800" dirty="0" err="1"/>
              <a:t>src</a:t>
            </a:r>
            <a:r>
              <a:rPr lang="fr-FR" sz="1800" dirty="0"/>
              <a:t>="ma-video.mp4" type="</a:t>
            </a:r>
            <a:r>
              <a:rPr lang="fr-FR" sz="1800" dirty="0" err="1"/>
              <a:t>video</a:t>
            </a:r>
            <a:r>
              <a:rPr lang="fr-FR" sz="1800" dirty="0"/>
              <a:t>/mp4"&gt; Votre navigateur </a:t>
            </a:r>
            <a:r>
              <a:rPr lang="fr-FR" sz="2000" dirty="0"/>
              <a:t>ne</a:t>
            </a:r>
            <a:r>
              <a:rPr lang="fr-FR" sz="1800" dirty="0"/>
              <a:t> supporte pas la balise vidéo. &lt;/</a:t>
            </a:r>
            <a:r>
              <a:rPr lang="fr-FR" sz="1800" dirty="0" err="1"/>
              <a:t>video</a:t>
            </a:r>
            <a:r>
              <a:rPr lang="fr-FR" sz="1800" dirty="0"/>
              <a:t>&gt; &lt;/div&gt;</a:t>
            </a:r>
          </a:p>
        </p:txBody>
      </p:sp>
    </p:spTree>
    <p:extLst>
      <p:ext uri="{BB962C8B-B14F-4D97-AF65-F5344CB8AC3E}">
        <p14:creationId xmlns:p14="http://schemas.microsoft.com/office/powerpoint/2010/main" val="361633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LES EXPOSANTS </a:t>
            </a:r>
            <a:endParaRPr lang="fr-FR" dirty="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-L1B MUCKAYA FLORIDA</a:t>
            </a:r>
          </a:p>
          <a:p>
            <a:r>
              <a:rPr lang="fr-FR" dirty="0" smtClean="0"/>
              <a:t>- L1B HENINTSOA JORDI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271998"/>
      </p:ext>
    </p:extLst>
  </p:cSld>
  <p:clrMapOvr>
    <a:masterClrMapping/>
  </p:clrMapOvr>
</p:sld>
</file>

<file path=ppt/theme/theme1.xml><?xml version="1.0" encoding="utf-8"?>
<a:theme xmlns:a="http://schemas.openxmlformats.org/drawingml/2006/main" name="BULMA CSS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498_TF66687569" id="{787900FF-6872-4441-B598-37355B1445EE}" vid="{F772BB80-56EE-4656-A7E3-611E117A18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BULMA CSS</Template>
  <TotalTime>252</TotalTime>
  <Words>257</Words>
  <Application>Microsoft Office PowerPoint</Application>
  <PresentationFormat>Affichage à l'écran (4:3)</PresentationFormat>
  <Paragraphs>135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Arial</vt:lpstr>
      <vt:lpstr>Tahoma</vt:lpstr>
      <vt:lpstr>Trade Gothic LT Pro</vt:lpstr>
      <vt:lpstr>Trebuchet MS</vt:lpstr>
      <vt:lpstr>BULMA CSS</vt:lpstr>
      <vt:lpstr>BULMA  CSS </vt:lpstr>
      <vt:lpstr>INTRODUCTION</vt:lpstr>
      <vt:lpstr>La méthodologie BEM (Block Element Modifier)</vt:lpstr>
      <vt:lpstr>Les blocks</vt:lpstr>
      <vt:lpstr>LES ELEMENTS</vt:lpstr>
      <vt:lpstr>LES MODIFICATEURS</vt:lpstr>
      <vt:lpstr>Responsives et couleurs</vt:lpstr>
      <vt:lpstr>STYLES </vt:lpstr>
      <vt:lpstr>STYLES TEXTES</vt:lpstr>
      <vt:lpstr>STYLE NAVBBAR </vt:lpstr>
      <vt:lpstr>IMAGES ET VIDEOS</vt:lpstr>
      <vt:lpstr>LES EXPOSANTS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BULMA  CSS</dc:title>
  <dc:creator>hp</dc:creator>
  <cp:lastModifiedBy>Utilisateur Windows</cp:lastModifiedBy>
  <cp:revision>16</cp:revision>
  <dcterms:created xsi:type="dcterms:W3CDTF">2025-11-25T06:11:35Z</dcterms:created>
  <dcterms:modified xsi:type="dcterms:W3CDTF">2025-11-26T09:59:11Z</dcterms:modified>
</cp:coreProperties>
</file>